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"/>
    <p:sldId id="257" r:id="rId3"/>
    <p:sldId id="258" r:id="rId4"/>
    <p:sldId id="259" r:id="rId5"/>
    <p:sldId id="272" r:id="rId6"/>
    <p:sldId id="273" r:id="rId7"/>
    <p:sldId id="274" r:id="rId8"/>
    <p:sldId id="275" r:id="rId9"/>
    <p:sldId id="260" r:id="rId10"/>
    <p:sldId id="271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34" autoAdjust="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62" y="58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3600" b="1" dirty="0"/>
              <a:t>КУРСОВИЙ ПРОЄКТ</a:t>
            </a:r>
            <a:br>
              <a:rPr lang="ru-RU" sz="3600" b="1" dirty="0"/>
            </a:br>
            <a:r>
              <a:rPr lang="ru-RU" sz="3600" b="1" dirty="0"/>
              <a:t>на тему: Система </a:t>
            </a:r>
            <a:r>
              <a:rPr lang="ru-RU" sz="3600" b="1" dirty="0" err="1"/>
              <a:t>управління</a:t>
            </a:r>
            <a:r>
              <a:rPr lang="ru-RU" sz="3600" b="1" dirty="0"/>
              <a:t> базою</a:t>
            </a:r>
            <a:r>
              <a:rPr lang="en-US" sz="3600" b="1" dirty="0"/>
              <a:t> </a:t>
            </a:r>
            <a:r>
              <a:rPr lang="ru-RU" sz="3600" b="1" dirty="0" err="1"/>
              <a:t>даних</a:t>
            </a:r>
            <a:r>
              <a:rPr lang="en-US" sz="3600" b="1" dirty="0"/>
              <a:t> </a:t>
            </a:r>
            <a:r>
              <a:rPr lang="ru-RU" sz="3600" b="1" dirty="0"/>
              <a:t>«</a:t>
            </a:r>
            <a:r>
              <a:rPr lang="ru-RU" sz="3600" b="1" dirty="0" err="1"/>
              <a:t>Автомобіль</a:t>
            </a:r>
            <a:r>
              <a:rPr lang="ru-RU" sz="3600" b="1" dirty="0"/>
              <a:t>»</a:t>
            </a:r>
            <a:br>
              <a:rPr lang="ru-RU" sz="3600" b="1" dirty="0"/>
            </a:br>
            <a:endParaRPr lang="ru-RU" sz="36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ru-RU" sz="4500" dirty="0">
                <a:solidFill>
                  <a:schemeClr val="tx1"/>
                </a:solidFill>
              </a:rPr>
              <a:t>з </a:t>
            </a:r>
            <a:r>
              <a:rPr lang="ru-RU" sz="4500" dirty="0" err="1">
                <a:solidFill>
                  <a:schemeClr val="tx1"/>
                </a:solidFill>
              </a:rPr>
              <a:t>дисципліни</a:t>
            </a:r>
            <a:br>
              <a:rPr lang="ru-RU" sz="4500" dirty="0">
                <a:solidFill>
                  <a:schemeClr val="tx1"/>
                </a:solidFill>
              </a:rPr>
            </a:br>
            <a:r>
              <a:rPr lang="ru-RU" sz="4500" dirty="0">
                <a:solidFill>
                  <a:schemeClr val="tx1"/>
                </a:solidFill>
              </a:rPr>
              <a:t>СТРУКТУРИ ДАНИХ, АЛГОРИТМИ</a:t>
            </a:r>
          </a:p>
          <a:p>
            <a:r>
              <a:rPr lang="ru-RU" sz="4500" dirty="0">
                <a:solidFill>
                  <a:schemeClr val="tx1"/>
                </a:solidFill>
              </a:rPr>
              <a:t>ТА ОБ’ЄКТНО-ОРІЄНТОВАНА ПАРАДИГМА</a:t>
            </a:r>
          </a:p>
          <a:p>
            <a:br>
              <a:rPr lang="ru-RU" sz="4500" dirty="0">
                <a:solidFill>
                  <a:schemeClr val="tx1"/>
                </a:solidFill>
              </a:rPr>
            </a:br>
            <a:br>
              <a:rPr lang="ru-RU" dirty="0"/>
            </a:br>
            <a:endParaRPr lang="ru-RU" dirty="0"/>
          </a:p>
          <a:p>
            <a:pPr algn="r"/>
            <a:br>
              <a:rPr lang="ru-RU" dirty="0"/>
            </a:br>
            <a:r>
              <a:rPr lang="ru-RU" dirty="0"/>
              <a:t>                                                            </a:t>
            </a:r>
            <a:r>
              <a:rPr lang="ru-RU" sz="4400" dirty="0" err="1">
                <a:solidFill>
                  <a:schemeClr val="tx1"/>
                </a:solidFill>
              </a:rPr>
              <a:t>Викона</a:t>
            </a:r>
            <a:r>
              <a:rPr lang="uk-UA" sz="4400" dirty="0">
                <a:solidFill>
                  <a:schemeClr val="tx1"/>
                </a:solidFill>
              </a:rPr>
              <a:t>в</a:t>
            </a:r>
            <a:r>
              <a:rPr lang="en-US" sz="4400" dirty="0">
                <a:solidFill>
                  <a:schemeClr val="tx1"/>
                </a:solidFill>
              </a:rPr>
              <a:t>:</a:t>
            </a:r>
            <a:r>
              <a:rPr lang="uk-UA" sz="4400" dirty="0">
                <a:solidFill>
                  <a:schemeClr val="tx1"/>
                </a:solidFill>
              </a:rPr>
              <a:t> Бугера Михайло Олександрович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3066760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latin typeface="Calibri"/>
              </a:rPr>
              <a:t>Мета та завдання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800" b="1" dirty="0">
                <a:solidFill>
                  <a:srgbClr val="000000"/>
                </a:solidFill>
                <a:latin typeface="Calibri"/>
              </a:rPr>
              <a:t>Мета: </a:t>
            </a:r>
            <a:r>
              <a:rPr lang="ru-RU" sz="2400" dirty="0" err="1">
                <a:solidFill>
                  <a:srgbClr val="000000"/>
                </a:solidFill>
                <a:latin typeface="Calibri"/>
              </a:rPr>
              <a:t>полягає</a:t>
            </a:r>
            <a:r>
              <a:rPr lang="ru-RU" sz="2400" dirty="0">
                <a:solidFill>
                  <a:srgbClr val="000000"/>
                </a:solidFill>
                <a:latin typeface="Calibri"/>
              </a:rPr>
              <a:t> у </a:t>
            </a:r>
            <a:r>
              <a:rPr lang="ru-RU" sz="2400" dirty="0" err="1">
                <a:solidFill>
                  <a:srgbClr val="000000"/>
                </a:solidFill>
                <a:latin typeface="Calibri"/>
              </a:rPr>
              <a:t>розробці</a:t>
            </a:r>
            <a:r>
              <a:rPr lang="ru-RU" sz="2400" dirty="0">
                <a:solidFill>
                  <a:srgbClr val="000000"/>
                </a:solidFill>
                <a:latin typeface="Calibri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Calibri"/>
              </a:rPr>
              <a:t>системи</a:t>
            </a:r>
            <a:r>
              <a:rPr lang="ru-RU" sz="2400" dirty="0">
                <a:solidFill>
                  <a:srgbClr val="000000"/>
                </a:solidFill>
                <a:latin typeface="Calibri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Calibri"/>
              </a:rPr>
              <a:t>управління</a:t>
            </a:r>
            <a:r>
              <a:rPr lang="ru-RU" sz="2400" dirty="0">
                <a:solidFill>
                  <a:srgbClr val="000000"/>
                </a:solidFill>
                <a:latin typeface="Calibri"/>
              </a:rPr>
              <a:t> базою </a:t>
            </a:r>
            <a:r>
              <a:rPr lang="ru-RU" sz="2400" dirty="0" err="1">
                <a:solidFill>
                  <a:srgbClr val="000000"/>
                </a:solidFill>
                <a:latin typeface="Calibri"/>
              </a:rPr>
              <a:t>автомобілів</a:t>
            </a:r>
            <a:r>
              <a:rPr lang="ru-RU" sz="2400" dirty="0">
                <a:solidFill>
                  <a:srgbClr val="000000"/>
                </a:solidFill>
                <a:latin typeface="Calibri"/>
              </a:rPr>
              <a:t> для </a:t>
            </a:r>
            <a:r>
              <a:rPr lang="ru-RU" sz="2400" dirty="0" err="1">
                <a:solidFill>
                  <a:srgbClr val="000000"/>
                </a:solidFill>
                <a:latin typeface="Calibri"/>
              </a:rPr>
              <a:t>комп’ютерів</a:t>
            </a:r>
            <a:r>
              <a:rPr lang="ru-RU" sz="2400" dirty="0">
                <a:solidFill>
                  <a:srgbClr val="000000"/>
                </a:solidFill>
                <a:latin typeface="Calibri"/>
              </a:rPr>
              <a:t>, </a:t>
            </a:r>
            <a:r>
              <a:rPr lang="ru-RU" sz="2400" dirty="0" err="1">
                <a:solidFill>
                  <a:srgbClr val="000000"/>
                </a:solidFill>
                <a:latin typeface="Calibri"/>
              </a:rPr>
              <a:t>які</a:t>
            </a:r>
            <a:r>
              <a:rPr lang="ru-RU" sz="2400" dirty="0">
                <a:solidFill>
                  <a:srgbClr val="000000"/>
                </a:solidFill>
                <a:latin typeface="Calibri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Calibri"/>
              </a:rPr>
              <a:t>працюють</a:t>
            </a:r>
            <a:r>
              <a:rPr lang="ru-RU" sz="2400" dirty="0">
                <a:solidFill>
                  <a:srgbClr val="000000"/>
                </a:solidFill>
                <a:latin typeface="Calibri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Calibri"/>
              </a:rPr>
              <a:t>під</a:t>
            </a:r>
            <a:r>
              <a:rPr lang="ru-RU" sz="2400" dirty="0">
                <a:solidFill>
                  <a:srgbClr val="000000"/>
                </a:solidFill>
                <a:latin typeface="Calibri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Calibri"/>
              </a:rPr>
              <a:t>керуванням</a:t>
            </a:r>
            <a:r>
              <a:rPr lang="ru-RU" sz="2400" dirty="0">
                <a:solidFill>
                  <a:srgbClr val="000000"/>
                </a:solidFill>
                <a:latin typeface="Calibri"/>
              </a:rPr>
              <a:t> ОС </a:t>
            </a:r>
            <a:r>
              <a:rPr lang="en-US" sz="2400" dirty="0">
                <a:solidFill>
                  <a:srgbClr val="000000"/>
                </a:solidFill>
                <a:latin typeface="Calibri"/>
              </a:rPr>
              <a:t>Windows </a:t>
            </a:r>
            <a:r>
              <a:rPr lang="ru-RU" sz="2400" dirty="0">
                <a:solidFill>
                  <a:srgbClr val="000000"/>
                </a:solidFill>
                <a:latin typeface="Calibri"/>
              </a:rPr>
              <a:t>та </a:t>
            </a:r>
            <a:r>
              <a:rPr lang="en-US" sz="2400" dirty="0">
                <a:solidFill>
                  <a:srgbClr val="000000"/>
                </a:solidFill>
                <a:latin typeface="Calibri"/>
              </a:rPr>
              <a:t>Linux.</a:t>
            </a:r>
          </a:p>
          <a:p>
            <a:r>
              <a:rPr sz="2800" b="1" dirty="0" err="1">
                <a:solidFill>
                  <a:srgbClr val="000000"/>
                </a:solidFill>
                <a:latin typeface="Calibri"/>
              </a:rPr>
              <a:t>Завдання</a:t>
            </a:r>
            <a:r>
              <a:rPr sz="2800" b="1" dirty="0">
                <a:solidFill>
                  <a:srgbClr val="000000"/>
                </a:solidFill>
                <a:latin typeface="Calibri"/>
              </a:rPr>
              <a:t>: </a:t>
            </a:r>
            <a:r>
              <a:rPr lang="uk-UA" sz="2800" b="1" dirty="0">
                <a:solidFill>
                  <a:srgbClr val="000000"/>
                </a:solidFill>
                <a:latin typeface="Calibri"/>
              </a:rPr>
              <a:t> </a:t>
            </a:r>
            <a:r>
              <a:rPr lang="uk-UA" sz="2400" dirty="0">
                <a:solidFill>
                  <a:srgbClr val="000000"/>
                </a:solidFill>
                <a:latin typeface="Calibri"/>
              </a:rPr>
              <a:t>Розробити систему управління базою даних. Яка включає у себе функції</a:t>
            </a:r>
            <a:r>
              <a:rPr lang="en-US" sz="2400" dirty="0">
                <a:solidFill>
                  <a:srgbClr val="000000"/>
                </a:solidFill>
                <a:latin typeface="Calibri"/>
              </a:rPr>
              <a:t>: </a:t>
            </a:r>
            <a:r>
              <a:rPr sz="2400" dirty="0" err="1">
                <a:solidFill>
                  <a:srgbClr val="000000"/>
                </a:solidFill>
                <a:latin typeface="Calibri"/>
              </a:rPr>
              <a:t>введення</a:t>
            </a:r>
            <a:r>
              <a:rPr sz="2400" dirty="0">
                <a:solidFill>
                  <a:srgbClr val="000000"/>
                </a:solidFill>
                <a:latin typeface="Calibri"/>
              </a:rPr>
              <a:t>, </a:t>
            </a:r>
            <a:r>
              <a:rPr sz="2400" dirty="0" err="1">
                <a:solidFill>
                  <a:srgbClr val="000000"/>
                </a:solidFill>
                <a:latin typeface="Calibri"/>
              </a:rPr>
              <a:t>редагування</a:t>
            </a:r>
            <a:r>
              <a:rPr sz="2400" dirty="0">
                <a:solidFill>
                  <a:srgbClr val="000000"/>
                </a:solidFill>
                <a:latin typeface="Calibri"/>
              </a:rPr>
              <a:t>, </a:t>
            </a:r>
            <a:r>
              <a:rPr sz="2400" dirty="0" err="1">
                <a:solidFill>
                  <a:srgbClr val="000000"/>
                </a:solidFill>
                <a:latin typeface="Calibri"/>
              </a:rPr>
              <a:t>пошук</a:t>
            </a:r>
            <a:r>
              <a:rPr sz="2400" dirty="0">
                <a:solidFill>
                  <a:srgbClr val="000000"/>
                </a:solidFill>
                <a:latin typeface="Calibri"/>
              </a:rPr>
              <a:t>, </a:t>
            </a:r>
            <a:r>
              <a:rPr sz="2400" dirty="0" err="1">
                <a:solidFill>
                  <a:srgbClr val="000000"/>
                </a:solidFill>
                <a:latin typeface="Calibri"/>
              </a:rPr>
              <a:t>сортування</a:t>
            </a:r>
            <a:r>
              <a:rPr sz="2400" dirty="0">
                <a:solidFill>
                  <a:srgbClr val="000000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Calibri"/>
              </a:rPr>
              <a:t>та</a:t>
            </a:r>
            <a:r>
              <a:rPr sz="2400" dirty="0">
                <a:solidFill>
                  <a:srgbClr val="000000"/>
                </a:solidFill>
                <a:latin typeface="Calibri"/>
              </a:rPr>
              <a:t> </a:t>
            </a:r>
            <a:r>
              <a:rPr sz="2400" dirty="0" err="1">
                <a:solidFill>
                  <a:srgbClr val="000000"/>
                </a:solidFill>
                <a:latin typeface="Calibri"/>
              </a:rPr>
              <a:t>фільтрація</a:t>
            </a:r>
            <a:r>
              <a:rPr sz="2400" dirty="0">
                <a:solidFill>
                  <a:srgbClr val="000000"/>
                </a:solidFill>
                <a:latin typeface="Calibri"/>
              </a:rPr>
              <a:t>.</a:t>
            </a:r>
            <a:endParaRPr sz="2800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latin typeface="Calibri"/>
              </a:rPr>
              <a:t>Інструментальні засоби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 dirty="0">
                <a:solidFill>
                  <a:srgbClr val="000000"/>
                </a:solidFill>
                <a:latin typeface="Calibri"/>
              </a:rPr>
              <a:t>• ОС Windows</a:t>
            </a:r>
          </a:p>
          <a:p>
            <a:r>
              <a:rPr sz="2800" dirty="0">
                <a:solidFill>
                  <a:srgbClr val="000000"/>
                </a:solidFill>
                <a:latin typeface="Calibri"/>
              </a:rPr>
              <a:t>• CSV-</a:t>
            </a:r>
            <a:r>
              <a:rPr sz="2800" dirty="0" err="1">
                <a:solidFill>
                  <a:srgbClr val="000000"/>
                </a:solidFill>
                <a:latin typeface="Calibri"/>
              </a:rPr>
              <a:t>файли</a:t>
            </a:r>
            <a:endParaRPr sz="2800" dirty="0">
              <a:solidFill>
                <a:srgbClr val="000000"/>
              </a:solidFill>
              <a:latin typeface="Calibri"/>
            </a:endParaRPr>
          </a:p>
          <a:p>
            <a:r>
              <a:rPr sz="2800" dirty="0">
                <a:solidFill>
                  <a:srgbClr val="000000"/>
                </a:solidFill>
                <a:latin typeface="Calibri"/>
              </a:rPr>
              <a:t>• C++</a:t>
            </a:r>
            <a:endParaRPr lang="uk-UA" sz="2800" dirty="0">
              <a:solidFill>
                <a:srgbClr val="000000"/>
              </a:solidFill>
              <a:latin typeface="Calibri"/>
            </a:endParaRPr>
          </a:p>
          <a:p>
            <a:r>
              <a:rPr lang="uk-UA" sz="2800" dirty="0">
                <a:solidFill>
                  <a:srgbClr val="000000"/>
                </a:solidFill>
                <a:latin typeface="Calibri"/>
              </a:rPr>
              <a:t>•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 Visual Studio</a:t>
            </a:r>
            <a:endParaRPr sz="2800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DFA5A2C-11AF-4E14-9636-0B2ED38E2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359449"/>
            <a:ext cx="2276475" cy="200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sv – Бесплатные иконки: файлы и папки">
            <a:extLst>
              <a:ext uri="{FF2B5EF4-FFF2-40B4-BE49-F238E27FC236}">
                <a16:creationId xmlns:a16="http://schemas.microsoft.com/office/drawing/2014/main" id="{1CE3B4DD-61BB-4107-A6DF-69071138C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4677" y="1292773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919CC98-752C-4308-9934-F5BA741DB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9427" y="3863181"/>
            <a:ext cx="2019300" cy="226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C538136C-2F15-4798-A194-E5490A7C10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1149" y="3925093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"/>
            <a:ext cx="8229600" cy="646929"/>
          </a:xfrm>
        </p:spPr>
        <p:txBody>
          <a:bodyPr/>
          <a:lstStyle/>
          <a:p>
            <a:r>
              <a:rPr sz="3600" b="1" dirty="0" err="1">
                <a:latin typeface="Calibri"/>
              </a:rPr>
              <a:t>Сценарії</a:t>
            </a:r>
            <a:r>
              <a:rPr sz="3600" b="1" dirty="0">
                <a:latin typeface="Calibri"/>
              </a:rPr>
              <a:t> </a:t>
            </a:r>
            <a:r>
              <a:rPr sz="3600" b="1" dirty="0" err="1">
                <a:latin typeface="Calibri"/>
              </a:rPr>
              <a:t>використання</a:t>
            </a:r>
            <a:endParaRPr sz="3600" b="1" dirty="0">
              <a:latin typeface="Calibri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14E0140-DC3A-4A5C-9CAD-4652E3A8C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2425"/>
            <a:ext cx="4760730" cy="342772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6ABC9B1-8081-4353-BA7D-EF7F4567D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730" y="542425"/>
            <a:ext cx="4383270" cy="363267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B2E08A2-E517-4D71-9DAD-1234EB2965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460" y="3893903"/>
            <a:ext cx="4383270" cy="296409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137E8F5-0B6A-4D18-9385-B7DA587679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8190" y="4144571"/>
            <a:ext cx="3501527" cy="27057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61883DF-9B35-43B1-99A0-D2DA929D5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68" y="277324"/>
            <a:ext cx="4362932" cy="315167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D96DB48-C2A1-47D5-8407-C631DD782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1" y="277324"/>
            <a:ext cx="4572000" cy="275068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A08CC79-A7C7-4865-BB18-5E6BE52C4F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068" y="3519081"/>
            <a:ext cx="4362932" cy="306159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80BF1A4-80C7-4ACE-BC32-D2212FFB2B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3392815"/>
            <a:ext cx="3981201" cy="329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813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4FDBE26-5FB1-4888-95D4-A18DB27FE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33" y="167640"/>
            <a:ext cx="4432467" cy="342315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873C5CB-BF51-4017-9554-E56282989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112" y="286686"/>
            <a:ext cx="3986355" cy="330410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2B5F1D-43A2-4F4C-BC38-81CCF4D1D1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532" y="3805931"/>
            <a:ext cx="4432467" cy="305207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7E0F2FF-9E26-4DDC-A6DA-AD64F9881D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735597"/>
            <a:ext cx="4572000" cy="159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900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6D4A4BB-4C86-4CD2-9227-AAC5B3DB6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" y="183638"/>
            <a:ext cx="4450080" cy="324536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CBD6E90-6F4F-4D76-A0EF-27902C20D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85895"/>
            <a:ext cx="4099560" cy="324310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AF85358-EF06-46FF-859C-4FD37411D0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19" y="3429001"/>
            <a:ext cx="4123691" cy="3429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B98693-D311-439D-9BF8-8345009B4B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581400"/>
            <a:ext cx="4450081" cy="2048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53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F6A1BBE-9EB2-4E12-A082-6601D7A12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" y="141710"/>
            <a:ext cx="6782747" cy="303889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B39F439-AC73-4A9E-AC16-C6C79CCE3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367" y="3515888"/>
            <a:ext cx="7488448" cy="2534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838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 err="1">
                <a:latin typeface="Calibri"/>
              </a:rPr>
              <a:t>Основні</a:t>
            </a:r>
            <a:r>
              <a:rPr sz="3600" b="1" dirty="0">
                <a:latin typeface="Calibri"/>
              </a:rPr>
              <a:t> </a:t>
            </a:r>
            <a:r>
              <a:rPr sz="3600" b="1" dirty="0" err="1">
                <a:latin typeface="Calibri"/>
              </a:rPr>
              <a:t>алгоритми</a:t>
            </a:r>
            <a:endParaRPr sz="3600" b="1" dirty="0"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84811"/>
            <a:ext cx="8229600" cy="4525963"/>
          </a:xfrm>
        </p:spPr>
        <p:txBody>
          <a:bodyPr/>
          <a:lstStyle/>
          <a:p>
            <a:r>
              <a:rPr sz="2800" dirty="0">
                <a:solidFill>
                  <a:srgbClr val="00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000000"/>
                </a:solidFill>
                <a:latin typeface="Calibri"/>
              </a:rPr>
              <a:t>Додавання</a:t>
            </a:r>
            <a:endParaRPr sz="2800" dirty="0">
              <a:solidFill>
                <a:srgbClr val="000000"/>
              </a:solidFill>
              <a:latin typeface="Calibri"/>
            </a:endParaRPr>
          </a:p>
          <a:p>
            <a:r>
              <a:rPr sz="2800" dirty="0">
                <a:solidFill>
                  <a:srgbClr val="00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000000"/>
                </a:solidFill>
                <a:latin typeface="Calibri"/>
              </a:rPr>
              <a:t>Редагування</a:t>
            </a:r>
            <a:endParaRPr sz="2800" dirty="0">
              <a:solidFill>
                <a:srgbClr val="000000"/>
              </a:solidFill>
              <a:latin typeface="Calibri"/>
            </a:endParaRPr>
          </a:p>
          <a:p>
            <a:r>
              <a:rPr sz="2800" dirty="0">
                <a:solidFill>
                  <a:srgbClr val="00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000000"/>
                </a:solidFill>
                <a:latin typeface="Calibri"/>
              </a:rPr>
              <a:t>Видалення</a:t>
            </a:r>
            <a:endParaRPr sz="2800" dirty="0">
              <a:solidFill>
                <a:srgbClr val="000000"/>
              </a:solidFill>
              <a:latin typeface="Calibri"/>
            </a:endParaRPr>
          </a:p>
          <a:p>
            <a:r>
              <a:rPr sz="2800" dirty="0">
                <a:solidFill>
                  <a:srgbClr val="000000"/>
                </a:solidFill>
                <a:latin typeface="Calibri"/>
              </a:rPr>
              <a:t> </a:t>
            </a:r>
            <a:r>
              <a:rPr sz="2800" dirty="0" err="1">
                <a:solidFill>
                  <a:srgbClr val="000000"/>
                </a:solidFill>
                <a:latin typeface="Calibri"/>
              </a:rPr>
              <a:t>Перегляд</a:t>
            </a:r>
            <a:r>
              <a:rPr sz="2800" dirty="0">
                <a:solidFill>
                  <a:srgbClr val="000000"/>
                </a:solidFill>
                <a:latin typeface="Calibri"/>
              </a:rPr>
              <a:t> і </a:t>
            </a:r>
            <a:r>
              <a:rPr sz="2800" dirty="0" err="1">
                <a:solidFill>
                  <a:srgbClr val="000000"/>
                </a:solidFill>
                <a:latin typeface="Calibri"/>
              </a:rPr>
              <a:t>сортування</a:t>
            </a:r>
            <a:endParaRPr sz="2800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F0BCB04-9AB9-4A38-8557-F2807AE10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4581" y="1005840"/>
            <a:ext cx="2552069" cy="56630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624A424-B496-4D04-AE6A-AB75C725372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745519" y="349134"/>
            <a:ext cx="1957908" cy="555601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EE0591F-002E-42AB-AE57-498E0146D2D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9753" y="208083"/>
            <a:ext cx="2543695" cy="5203801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FE0266D-25D6-4EEA-9D81-28B03B11ED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7973" y="34765"/>
            <a:ext cx="1790950" cy="62873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D914476-3C90-413E-9517-E162B281C0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0288" y="103252"/>
            <a:ext cx="2143424" cy="568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835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latin typeface="Calibri"/>
              </a:rPr>
              <a:t>Класи бізнес-логіки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SzPts val="1400"/>
            </a:pPr>
            <a:r>
              <a:rPr lang="en-US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Vehicle</a:t>
            </a:r>
            <a:r>
              <a:rPr lang="ru-RU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uk-UA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абстрактний клас що представляє транспортний засіб, у якому оголошені основні методи для дочірніх класів</a:t>
            </a:r>
            <a:r>
              <a:rPr lang="ru-RU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uk-UA" sz="1800" spc="0" dirty="0">
              <a:effectLst/>
              <a:latin typeface="+mj-lt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buSzPts val="1400"/>
            </a:pPr>
            <a:r>
              <a:rPr lang="en-US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Car </a:t>
            </a:r>
            <a:r>
              <a:rPr lang="uk-UA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– клас нащадок </a:t>
            </a:r>
            <a:r>
              <a:rPr lang="en-US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Vehicle</a:t>
            </a:r>
            <a:r>
              <a:rPr lang="uk-UA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, клас що представляє автомобіль.</a:t>
            </a:r>
          </a:p>
          <a:p>
            <a:pPr algn="just">
              <a:lnSpc>
                <a:spcPct val="150000"/>
              </a:lnSpc>
              <a:buSzPts val="1400"/>
            </a:pPr>
            <a:r>
              <a:rPr lang="ru-RU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Configuration – </a:t>
            </a:r>
            <a:r>
              <a:rPr lang="uk-UA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клас нащадок </a:t>
            </a:r>
            <a:r>
              <a:rPr lang="en-US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Vehicle</a:t>
            </a:r>
            <a:r>
              <a:rPr lang="uk-UA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, який описує конфігурацію автомобілів.</a:t>
            </a:r>
          </a:p>
          <a:p>
            <a:pPr algn="just">
              <a:lnSpc>
                <a:spcPct val="150000"/>
              </a:lnSpc>
              <a:buSzPts val="1400"/>
            </a:pPr>
            <a:r>
              <a:rPr lang="ru-RU" sz="1800" spc="0" dirty="0" err="1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CarManager</a:t>
            </a:r>
            <a:r>
              <a:rPr lang="ru-RU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uk-UA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клас нащадок </a:t>
            </a:r>
            <a:r>
              <a:rPr lang="en-US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Car</a:t>
            </a:r>
            <a:r>
              <a:rPr lang="uk-UA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, менеджер-клас для керування колекцією автомобілів. Реалізує всю бізнес-логіку програми: CRUD-операції, завантаження/збереження, пошук, сортування, фільтрацію та аналітику.</a:t>
            </a:r>
          </a:p>
          <a:p>
            <a:pPr algn="just">
              <a:lnSpc>
                <a:spcPct val="150000"/>
              </a:lnSpc>
              <a:buSzPts val="1400"/>
            </a:pPr>
            <a:r>
              <a:rPr lang="ru-RU" sz="1800" spc="0" dirty="0" err="1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AuthManager</a:t>
            </a:r>
            <a:r>
              <a:rPr lang="ru-RU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uk-UA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клас для управління авторизаціє</a:t>
            </a:r>
            <a:r>
              <a:rPr lang="ru-RU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uk-UA" sz="1800" spc="0" dirty="0">
              <a:effectLst/>
              <a:latin typeface="+mj-lt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buSzPts val="1400"/>
            </a:pPr>
            <a:r>
              <a:rPr lang="ru-RU" sz="1800" spc="0" dirty="0" err="1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IPrintable</a:t>
            </a:r>
            <a:r>
              <a:rPr lang="ru-RU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uk-UA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клас інтерфейс всі класи що наслідують його </a:t>
            </a:r>
            <a:r>
              <a:rPr lang="uk-UA" sz="1800" spc="0" dirty="0" err="1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зообовязанні</a:t>
            </a:r>
            <a:r>
              <a:rPr lang="uk-UA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 представити реалізацію методів </a:t>
            </a:r>
            <a:r>
              <a:rPr lang="en-US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Print() and </a:t>
            </a:r>
            <a:r>
              <a:rPr lang="en-US" sz="1800" spc="0" dirty="0" err="1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ToCSV</a:t>
            </a:r>
            <a:r>
              <a:rPr lang="en-US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uk-UA" sz="1800" spc="0" dirty="0">
                <a:effectLst/>
                <a:latin typeface="+mj-lt"/>
                <a:ea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latin typeface="Calibri"/>
              </a:rPr>
              <a:t>Функції програми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2800" dirty="0">
                <a:solidFill>
                  <a:srgbClr val="000000"/>
                </a:solidFill>
                <a:latin typeface="Calibri"/>
              </a:rPr>
              <a:t>Створення Додавання нових даних або ресурсів.</a:t>
            </a:r>
          </a:p>
          <a:p>
            <a:r>
              <a:rPr lang="uk-UA" sz="2800" dirty="0">
                <a:solidFill>
                  <a:srgbClr val="000000"/>
                </a:solidFill>
                <a:latin typeface="Calibri"/>
              </a:rPr>
              <a:t>Отримання, перегляд або пошук існуючих даних.</a:t>
            </a:r>
          </a:p>
          <a:p>
            <a:r>
              <a:rPr lang="uk-UA" sz="2800" dirty="0">
                <a:solidFill>
                  <a:srgbClr val="000000"/>
                </a:solidFill>
                <a:latin typeface="Calibri"/>
              </a:rPr>
              <a:t>Редагування або зміна наявних даних.</a:t>
            </a:r>
            <a:r>
              <a:rPr lang="en-US" sz="2800" dirty="0">
                <a:solidFill>
                  <a:srgbClr val="000000"/>
                </a:solidFill>
                <a:latin typeface="Calibri"/>
              </a:rPr>
              <a:t> </a:t>
            </a:r>
          </a:p>
          <a:p>
            <a:r>
              <a:rPr lang="uk-UA" sz="2800" dirty="0">
                <a:solidFill>
                  <a:srgbClr val="000000"/>
                </a:solidFill>
                <a:latin typeface="Calibri"/>
              </a:rPr>
              <a:t>Видалення</a:t>
            </a:r>
            <a:endParaRPr lang="en-US" sz="2800" dirty="0">
              <a:solidFill>
                <a:srgbClr val="000000"/>
              </a:solidFill>
              <a:latin typeface="Calibri"/>
            </a:endParaRPr>
          </a:p>
          <a:p>
            <a:r>
              <a:rPr sz="2800" dirty="0" err="1">
                <a:solidFill>
                  <a:srgbClr val="000000"/>
                </a:solidFill>
                <a:latin typeface="Calibri"/>
              </a:rPr>
              <a:t>Завантаження</a:t>
            </a:r>
            <a:r>
              <a:rPr sz="2800" dirty="0">
                <a:solidFill>
                  <a:srgbClr val="000000"/>
                </a:solidFill>
                <a:latin typeface="Calibri"/>
              </a:rPr>
              <a:t>/</a:t>
            </a:r>
            <a:r>
              <a:rPr sz="2800" dirty="0" err="1">
                <a:solidFill>
                  <a:srgbClr val="000000"/>
                </a:solidFill>
                <a:latin typeface="Calibri"/>
              </a:rPr>
              <a:t>збереження</a:t>
            </a:r>
            <a:endParaRPr sz="2800" dirty="0">
              <a:solidFill>
                <a:srgbClr val="000000"/>
              </a:solidFill>
              <a:latin typeface="Calibri"/>
            </a:endParaRPr>
          </a:p>
          <a:p>
            <a:r>
              <a:rPr sz="2800" dirty="0" err="1">
                <a:solidFill>
                  <a:srgbClr val="000000"/>
                </a:solidFill>
                <a:latin typeface="Calibri"/>
              </a:rPr>
              <a:t>Пошук</a:t>
            </a:r>
            <a:r>
              <a:rPr sz="2800" dirty="0">
                <a:solidFill>
                  <a:srgbClr val="000000"/>
                </a:solidFill>
                <a:latin typeface="Calibri"/>
              </a:rPr>
              <a:t>, </a:t>
            </a:r>
            <a:r>
              <a:rPr sz="2800" dirty="0" err="1">
                <a:solidFill>
                  <a:srgbClr val="000000"/>
                </a:solidFill>
                <a:latin typeface="Calibri"/>
              </a:rPr>
              <a:t>сортування</a:t>
            </a:r>
            <a:r>
              <a:rPr sz="2800" dirty="0">
                <a:solidFill>
                  <a:srgbClr val="000000"/>
                </a:solidFill>
                <a:latin typeface="Calibri"/>
              </a:rPr>
              <a:t>, </a:t>
            </a:r>
            <a:r>
              <a:rPr sz="2800" dirty="0" err="1">
                <a:solidFill>
                  <a:srgbClr val="000000"/>
                </a:solidFill>
                <a:latin typeface="Calibri"/>
              </a:rPr>
              <a:t>фільтрація</a:t>
            </a:r>
            <a:endParaRPr sz="2800" dirty="0">
              <a:solidFill>
                <a:srgbClr val="000000"/>
              </a:solidFill>
              <a:latin typeface="Calibri"/>
            </a:endParaRPr>
          </a:p>
          <a:p>
            <a:r>
              <a:rPr sz="2800" dirty="0" err="1">
                <a:solidFill>
                  <a:srgbClr val="000000"/>
                </a:solidFill>
                <a:latin typeface="Calibri"/>
              </a:rPr>
              <a:t>Авторизація</a:t>
            </a:r>
            <a:endParaRPr sz="2800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 err="1">
                <a:latin typeface="Calibri"/>
              </a:rPr>
              <a:t>Інтерфейс</a:t>
            </a:r>
            <a:r>
              <a:rPr sz="3600" b="1" dirty="0">
                <a:latin typeface="Calibri"/>
              </a:rPr>
              <a:t> </a:t>
            </a:r>
            <a:r>
              <a:rPr sz="3600" b="1" dirty="0" err="1">
                <a:latin typeface="Calibri"/>
              </a:rPr>
              <a:t>програми</a:t>
            </a:r>
            <a:r>
              <a:rPr sz="3600" b="1" dirty="0">
                <a:latin typeface="Calibri"/>
              </a:rPr>
              <a:t> 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C2AA76F-DB85-460F-A461-037417CD4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64" y="1206555"/>
            <a:ext cx="5439534" cy="128605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E4A74DE-ACAF-4CE4-98B7-4E0298194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34143"/>
            <a:ext cx="5087060" cy="34009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3D29F23-EA7C-4C7E-A632-D7F3CD71A0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2678" y="5935288"/>
            <a:ext cx="2381582" cy="2997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D30BB6-447F-4306-8129-110005D08542}"/>
              </a:ext>
            </a:extLst>
          </p:cNvPr>
          <p:cNvSpPr txBox="1"/>
          <p:nvPr/>
        </p:nvSpPr>
        <p:spPr>
          <a:xfrm>
            <a:off x="3191699" y="5935288"/>
            <a:ext cx="23235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- Меню адміністратора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A178B23-FD3C-498D-8BCB-2E4990504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88" y="320040"/>
            <a:ext cx="4054636" cy="41456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1DBE9B-9AB3-4100-BE57-1A904BFEA5CA}"/>
              </a:ext>
            </a:extLst>
          </p:cNvPr>
          <p:cNvSpPr txBox="1"/>
          <p:nvPr/>
        </p:nvSpPr>
        <p:spPr>
          <a:xfrm>
            <a:off x="160588" y="4465713"/>
            <a:ext cx="4054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Рисунок 7 – меню автомобілів для адміністратора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987F555-E8E7-4A0A-A43B-D295110B1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834" y="678136"/>
            <a:ext cx="3991532" cy="342947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C2A916F-2F4F-41CD-A66F-9297143DBC7B}"/>
              </a:ext>
            </a:extLst>
          </p:cNvPr>
          <p:cNvSpPr txBox="1"/>
          <p:nvPr/>
        </p:nvSpPr>
        <p:spPr>
          <a:xfrm>
            <a:off x="4709834" y="4158329"/>
            <a:ext cx="4054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Рисунок 8 – додавання нового авто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F4CC03A-66C9-4697-B21B-B969BB7D3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23" y="194944"/>
            <a:ext cx="5830114" cy="45631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4F4C24F-65C7-40EA-BEB8-F6561B5A781E}"/>
              </a:ext>
            </a:extLst>
          </p:cNvPr>
          <p:cNvSpPr txBox="1"/>
          <p:nvPr/>
        </p:nvSpPr>
        <p:spPr>
          <a:xfrm>
            <a:off x="87223" y="4758056"/>
            <a:ext cx="58301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Рисунок 9 – довідка для адміністратора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B8C4B2B-00B0-409C-BE19-DCE94C095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82535" cy="14575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9315F48-83C6-455B-BF5A-DFCE1AFB7B5A}"/>
              </a:ext>
            </a:extLst>
          </p:cNvPr>
          <p:cNvSpPr txBox="1"/>
          <p:nvPr/>
        </p:nvSpPr>
        <p:spPr>
          <a:xfrm>
            <a:off x="198120" y="1457528"/>
            <a:ext cx="5715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Рисунок 10 – пошук за декількома критеріями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68E8892-3FE9-4537-AA17-3C3935E03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96" y="1903559"/>
            <a:ext cx="5725324" cy="51442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23288CD-2389-4CF5-9A52-34D111E2B264}"/>
              </a:ext>
            </a:extLst>
          </p:cNvPr>
          <p:cNvSpPr txBox="1"/>
          <p:nvPr/>
        </p:nvSpPr>
        <p:spPr>
          <a:xfrm>
            <a:off x="187796" y="2420089"/>
            <a:ext cx="5715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Рисунок 11 – пошук економічного авто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0E7976E-456E-499A-920A-89BE92CE0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4" y="2727866"/>
            <a:ext cx="5849166" cy="169568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912F2B9-C6CE-418F-8EB2-DA710D49F102}"/>
              </a:ext>
            </a:extLst>
          </p:cNvPr>
          <p:cNvSpPr txBox="1"/>
          <p:nvPr/>
        </p:nvSpPr>
        <p:spPr>
          <a:xfrm>
            <a:off x="187796" y="4577441"/>
            <a:ext cx="5715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Рисунок 12 – розрахунок вартості поїздки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25ED105-4C03-4AE3-AE3A-5715BF64C3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68" y="4885218"/>
            <a:ext cx="5782482" cy="96215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F654723-4791-4609-8246-3D505B6D9477}"/>
              </a:ext>
            </a:extLst>
          </p:cNvPr>
          <p:cNvSpPr txBox="1"/>
          <p:nvPr/>
        </p:nvSpPr>
        <p:spPr>
          <a:xfrm>
            <a:off x="133767" y="5847377"/>
            <a:ext cx="5715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Рисунок 13 – сортування за витратами пального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4C2BEB3-0F73-4D11-9591-65C04BE87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08" y="263646"/>
            <a:ext cx="4248743" cy="28102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3BE1388-1801-4495-86A2-7E50CC20627A}"/>
              </a:ext>
            </a:extLst>
          </p:cNvPr>
          <p:cNvSpPr txBox="1"/>
          <p:nvPr/>
        </p:nvSpPr>
        <p:spPr>
          <a:xfrm>
            <a:off x="382608" y="3073913"/>
            <a:ext cx="4248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Рисунок 14 – меню користувача без прав адміністратора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4D93F7F-D35B-4986-B449-16D3E0B97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" y="3597133"/>
            <a:ext cx="4936111" cy="289243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B6F6688-02E1-4272-93B1-D457DD114EC4}"/>
              </a:ext>
            </a:extLst>
          </p:cNvPr>
          <p:cNvSpPr txBox="1"/>
          <p:nvPr/>
        </p:nvSpPr>
        <p:spPr>
          <a:xfrm>
            <a:off x="5218051" y="3573780"/>
            <a:ext cx="42487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400" dirty="0"/>
              <a:t>Рисунок 15 – допомога для простого користувача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latin typeface="Calibri"/>
              </a:rPr>
              <a:t>Висновки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7280"/>
            <a:ext cx="8488680" cy="5028883"/>
          </a:xfrm>
        </p:spPr>
        <p:txBody>
          <a:bodyPr>
            <a:noAutofit/>
          </a:bodyPr>
          <a:lstStyle/>
          <a:p>
            <a:pPr indent="450215" algn="just">
              <a:lnSpc>
                <a:spcPct val="150000"/>
              </a:lnSpc>
            </a:pPr>
            <a:r>
              <a:rPr lang="uk-UA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 результаті виконання курсового </a:t>
            </a:r>
            <a:r>
              <a:rPr lang="uk-UA" sz="1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проєкту</a:t>
            </a:r>
            <a:r>
              <a:rPr lang="uk-UA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розроблена система управління базою автомобілів для комп’ютерів, які працюють під керуванням ОС Windows.</a:t>
            </a:r>
          </a:p>
          <a:p>
            <a:pPr indent="450215" algn="just">
              <a:lnSpc>
                <a:spcPct val="150000"/>
              </a:lnSpc>
            </a:pPr>
            <a:r>
              <a:rPr lang="uk-UA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 розробленому програмному забезпечені передбачено</a:t>
            </a:r>
            <a:r>
              <a:rPr lang="ru-RU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uk-UA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127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arenR"/>
              <a:tabLst>
                <a:tab pos="666115" algn="l"/>
              </a:tabLst>
            </a:pPr>
            <a:r>
              <a:rPr lang="uk-UA" sz="14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Подання даних користувачем у консолі.</a:t>
            </a:r>
            <a:endParaRPr lang="uk-UA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127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arenR"/>
              <a:tabLst>
                <a:tab pos="666115" algn="l"/>
              </a:tabLst>
            </a:pPr>
            <a:r>
              <a:rPr lang="uk-UA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Перевірку коректності введення даних та обробку виключень.</a:t>
            </a:r>
          </a:p>
          <a:p>
            <a:pPr marL="342900" marR="127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arenR"/>
              <a:tabLst>
                <a:tab pos="666115" algn="l"/>
              </a:tabLst>
            </a:pPr>
            <a:r>
              <a:rPr lang="uk-UA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Збереження даних у файл.</a:t>
            </a:r>
          </a:p>
          <a:p>
            <a:pPr marL="342900" marR="127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arenR"/>
              <a:tabLst>
                <a:tab pos="666115" algn="l"/>
              </a:tabLst>
            </a:pPr>
            <a:r>
              <a:rPr lang="uk-UA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Зчитування даних з файлу.</a:t>
            </a:r>
          </a:p>
          <a:p>
            <a:pPr marL="342900" marR="127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arenR"/>
              <a:tabLst>
                <a:tab pos="666115" algn="l"/>
              </a:tabLst>
            </a:pPr>
            <a:r>
              <a:rPr lang="uk-UA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Перегляд доданих об’єктів.</a:t>
            </a:r>
          </a:p>
          <a:p>
            <a:pPr marL="342900" marR="127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arenR"/>
              <a:tabLst>
                <a:tab pos="666115" algn="l"/>
              </a:tabLst>
            </a:pPr>
            <a:r>
              <a:rPr lang="uk-UA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Редагування доданих об’єктів.</a:t>
            </a:r>
          </a:p>
          <a:p>
            <a:pPr marL="342900" marR="127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arenR"/>
              <a:tabLst>
                <a:tab pos="666115" algn="l"/>
              </a:tabLst>
            </a:pPr>
            <a:r>
              <a:rPr lang="uk-UA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Видалення об’єктів.</a:t>
            </a:r>
          </a:p>
          <a:p>
            <a:pPr marL="342900" marR="127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arenR"/>
              <a:tabLst>
                <a:tab pos="666115" algn="l"/>
              </a:tabLst>
            </a:pPr>
            <a:r>
              <a:rPr lang="uk-UA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Сортування об’єктів по самостійно вибраному ключу.</a:t>
            </a:r>
          </a:p>
          <a:p>
            <a:pPr marL="342900" marR="127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arenR"/>
              <a:tabLst>
                <a:tab pos="666115" algn="l"/>
              </a:tabLst>
            </a:pPr>
            <a:r>
              <a:rPr lang="uk-UA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Фільтрацію об’єктів по самостійно вибраному ключу.</a:t>
            </a:r>
          </a:p>
          <a:p>
            <a:pPr marL="342900" marR="127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arenR"/>
              <a:tabLst>
                <a:tab pos="666115" algn="l"/>
              </a:tabLst>
            </a:pPr>
            <a:r>
              <a:rPr lang="uk-UA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Пошук об’єктів по самостійно обраному ключу.</a:t>
            </a:r>
          </a:p>
          <a:p>
            <a:pPr indent="450215" algn="just">
              <a:lnSpc>
                <a:spcPct val="150000"/>
              </a:lnSpc>
            </a:pPr>
            <a:r>
              <a:rPr lang="uk-UA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Дана розробка у майбутньому може бути розширена із додаванням нового функціоналу і видозміненою логікою обробки.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latin typeface="Calibri"/>
              </a:rPr>
              <a:t>Дякую за увагу!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409</Words>
  <Application>Microsoft Office PowerPoint</Application>
  <PresentationFormat>Екран (4:3)</PresentationFormat>
  <Paragraphs>60</Paragraphs>
  <Slides>19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КУРСОВИЙ ПРОЄКТ на тему: Система управління базою даних «Автомобіль» </vt:lpstr>
      <vt:lpstr>Мета та завдання</vt:lpstr>
      <vt:lpstr>Інструментальні засоби</vt:lpstr>
      <vt:lpstr>Сценарії використання</vt:lpstr>
      <vt:lpstr>Презентація PowerPoint</vt:lpstr>
      <vt:lpstr>Презентація PowerPoint</vt:lpstr>
      <vt:lpstr>Презентація PowerPoint</vt:lpstr>
      <vt:lpstr>Презентація PowerPoint</vt:lpstr>
      <vt:lpstr>Основні алгоритми</vt:lpstr>
      <vt:lpstr>Презентація PowerPoint</vt:lpstr>
      <vt:lpstr>Класи бізнес-логіки</vt:lpstr>
      <vt:lpstr>Функції програми</vt:lpstr>
      <vt:lpstr>Інтерфейс програми </vt:lpstr>
      <vt:lpstr>Презентація PowerPoint</vt:lpstr>
      <vt:lpstr>Презентація PowerPoint</vt:lpstr>
      <vt:lpstr>Презентація PowerPoint</vt:lpstr>
      <vt:lpstr>Презентація PowerPoint</vt:lpstr>
      <vt:lpstr>Висновки</vt:lpstr>
      <vt:lpstr>Дякую за увагу!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КУРСОВИЙ ПРОЄКТ на тему: Система управління базою даних «Автомобіль» </dc:title>
  <dc:subject/>
  <dc:creator/>
  <cp:keywords/>
  <dc:description>generated using python-pptx</dc:description>
  <cp:lastModifiedBy>Mykhailo Buhera</cp:lastModifiedBy>
  <cp:revision>15</cp:revision>
  <dcterms:created xsi:type="dcterms:W3CDTF">2013-01-27T09:14:16Z</dcterms:created>
  <dcterms:modified xsi:type="dcterms:W3CDTF">2025-11-26T17:13:41Z</dcterms:modified>
  <cp:category/>
</cp:coreProperties>
</file>