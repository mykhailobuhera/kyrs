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8" r:id="rId15"/>
    <p:sldId id="269" r:id="rId1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14" autoAdjust="0"/>
  </p:normalViewPr>
  <p:slideViewPr>
    <p:cSldViewPr>
      <p:cViewPr varScale="1">
        <p:scale>
          <a:sx n="92" d="100"/>
          <a:sy n="92" d="100"/>
        </p:scale>
        <p:origin x="1186" y="10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BFC75-8165-4E25-8EDD-59ED2BB2BB35}" type="datetimeFigureOut">
              <a:rPr lang="uk-UA" smtClean="0"/>
              <a:t>20.11.2025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BCBB1E-C060-4423-8797-60E1E517A549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76778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BCBB1E-C060-4423-8797-60E1E517A549}" type="slidenum">
              <a:rPr lang="uk-UA" smtClean="0"/>
              <a:t>11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686447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BCBB1E-C060-4423-8797-60E1E517A549}" type="slidenum">
              <a:rPr lang="uk-UA" smtClean="0"/>
              <a:t>13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47500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‹№›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3600" b="1" dirty="0"/>
              <a:t>КУРСОВИЙ ПРОЄКТ</a:t>
            </a:r>
            <a:br>
              <a:rPr lang="ru-RU" sz="3600" b="1" dirty="0"/>
            </a:br>
            <a:r>
              <a:rPr lang="ru-RU" sz="3600" b="1" dirty="0"/>
              <a:t>на тему: Система </a:t>
            </a:r>
            <a:r>
              <a:rPr lang="ru-RU" sz="3600" b="1" dirty="0" err="1"/>
              <a:t>управління</a:t>
            </a:r>
            <a:r>
              <a:rPr lang="ru-RU" sz="3600" b="1" dirty="0"/>
              <a:t> базою</a:t>
            </a:r>
            <a:r>
              <a:rPr lang="en-US" sz="3600" b="1" dirty="0"/>
              <a:t> </a:t>
            </a:r>
            <a:r>
              <a:rPr lang="ru-RU" sz="3600" b="1" dirty="0" err="1"/>
              <a:t>даних</a:t>
            </a:r>
            <a:r>
              <a:rPr lang="en-US" sz="3600" b="1" dirty="0"/>
              <a:t> </a:t>
            </a:r>
            <a:r>
              <a:rPr lang="ru-RU" sz="3600" b="1" dirty="0"/>
              <a:t>«</a:t>
            </a:r>
            <a:r>
              <a:rPr lang="ru-RU" sz="3600" b="1" dirty="0" err="1"/>
              <a:t>Автомобіль</a:t>
            </a:r>
            <a:r>
              <a:rPr lang="ru-RU" sz="3600" b="1" dirty="0"/>
              <a:t>»</a:t>
            </a:r>
            <a:br>
              <a:rPr lang="ru-RU" sz="3600" b="1" dirty="0"/>
            </a:br>
            <a:endParaRPr lang="ru-RU" sz="36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ru-RU" sz="4500" dirty="0">
                <a:solidFill>
                  <a:schemeClr val="tx1"/>
                </a:solidFill>
              </a:rPr>
              <a:t>з </a:t>
            </a:r>
            <a:r>
              <a:rPr lang="ru-RU" sz="4500" dirty="0" err="1">
                <a:solidFill>
                  <a:schemeClr val="tx1"/>
                </a:solidFill>
              </a:rPr>
              <a:t>дисципліни</a:t>
            </a:r>
            <a:br>
              <a:rPr lang="ru-RU" sz="4500" dirty="0">
                <a:solidFill>
                  <a:schemeClr val="tx1"/>
                </a:solidFill>
              </a:rPr>
            </a:br>
            <a:r>
              <a:rPr lang="ru-RU" sz="4500" dirty="0">
                <a:solidFill>
                  <a:schemeClr val="tx1"/>
                </a:solidFill>
              </a:rPr>
              <a:t>СТРУКТУРИ ДАНИХ, АЛГОРИТМИ</a:t>
            </a:r>
          </a:p>
          <a:p>
            <a:r>
              <a:rPr lang="ru-RU" sz="4500" dirty="0">
                <a:solidFill>
                  <a:schemeClr val="tx1"/>
                </a:solidFill>
              </a:rPr>
              <a:t>ТА ОБ’ЄКТНО-ОРІЄНТОВАНА ПАРАДИГМА</a:t>
            </a:r>
          </a:p>
          <a:p>
            <a:br>
              <a:rPr lang="ru-RU" sz="4500" dirty="0">
                <a:solidFill>
                  <a:schemeClr val="tx1"/>
                </a:solidFill>
              </a:rPr>
            </a:br>
            <a:br>
              <a:rPr lang="ru-RU" dirty="0"/>
            </a:br>
            <a:endParaRPr lang="ru-RU" dirty="0"/>
          </a:p>
          <a:p>
            <a:pPr algn="r"/>
            <a:br>
              <a:rPr lang="ru-RU" dirty="0"/>
            </a:br>
            <a:r>
              <a:rPr lang="ru-RU" dirty="0"/>
              <a:t>                                                            </a:t>
            </a:r>
            <a:r>
              <a:rPr lang="ru-RU" sz="4400" dirty="0" err="1">
                <a:solidFill>
                  <a:schemeClr val="tx1"/>
                </a:solidFill>
              </a:rPr>
              <a:t>Викона</a:t>
            </a:r>
            <a:r>
              <a:rPr lang="uk-UA" sz="4400" dirty="0">
                <a:solidFill>
                  <a:schemeClr val="tx1"/>
                </a:solidFill>
              </a:rPr>
              <a:t>в</a:t>
            </a:r>
            <a:r>
              <a:rPr lang="en-US" sz="4400" dirty="0">
                <a:solidFill>
                  <a:schemeClr val="tx1"/>
                </a:solidFill>
              </a:rPr>
              <a:t>:</a:t>
            </a:r>
            <a:r>
              <a:rPr lang="uk-UA" sz="4400" dirty="0">
                <a:solidFill>
                  <a:schemeClr val="tx1"/>
                </a:solidFill>
              </a:rPr>
              <a:t> Бугера Михайло Олександрович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3066760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468560" y="260648"/>
            <a:ext cx="10009112" cy="1470025"/>
          </a:xfrm>
        </p:spPr>
        <p:txBody>
          <a:bodyPr>
            <a:normAutofit/>
          </a:bodyPr>
          <a:lstStyle/>
          <a:p>
            <a:r>
              <a:rPr lang="ru-RU" sz="4000" b="1" dirty="0"/>
              <a:t>Мета </a:t>
            </a:r>
            <a:r>
              <a:rPr lang="ru-RU" sz="4000" b="1" dirty="0" err="1"/>
              <a:t>роботи</a:t>
            </a:r>
            <a:r>
              <a:rPr lang="ru-RU" sz="4000" b="1" dirty="0"/>
              <a:t> та постановка </a:t>
            </a:r>
            <a:r>
              <a:rPr lang="ru-RU" sz="4000" b="1" dirty="0" err="1"/>
              <a:t>задачі</a:t>
            </a:r>
            <a:endParaRPr lang="ru-RU" sz="40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51520" y="1700808"/>
            <a:ext cx="8424936" cy="5400600"/>
          </a:xfrm>
        </p:spPr>
        <p:txBody>
          <a:bodyPr>
            <a:normAutofit/>
          </a:bodyPr>
          <a:lstStyle/>
          <a:p>
            <a:pPr algn="l"/>
            <a:r>
              <a:rPr lang="uk-UA" sz="2000" b="1" dirty="0">
                <a:solidFill>
                  <a:schemeClr val="tx1"/>
                </a:solidFill>
              </a:rPr>
              <a:t>Мета роботи </a:t>
            </a:r>
            <a:r>
              <a:rPr lang="uk-UA" sz="2000" dirty="0">
                <a:solidFill>
                  <a:schemeClr val="tx1"/>
                </a:solidFill>
              </a:rPr>
              <a:t>полягає у розробці системи управління базою Автомобілів для комп’ютерів, які працюють під керуванням ОС Windows та </a:t>
            </a:r>
            <a:r>
              <a:rPr lang="en-US" sz="2000" dirty="0">
                <a:solidFill>
                  <a:schemeClr val="tx1"/>
                </a:solidFill>
              </a:rPr>
              <a:t>Linux</a:t>
            </a:r>
            <a:r>
              <a:rPr lang="uk-UA" sz="2000" dirty="0">
                <a:solidFill>
                  <a:schemeClr val="tx1"/>
                </a:solidFill>
              </a:rPr>
              <a:t>.</a:t>
            </a:r>
            <a:endParaRPr lang="ru-RU" sz="2000" dirty="0">
              <a:solidFill>
                <a:schemeClr val="tx1"/>
              </a:solidFill>
            </a:endParaRPr>
          </a:p>
          <a:p>
            <a:pPr algn="l"/>
            <a:endParaRPr lang="en-US" sz="2000" dirty="0">
              <a:solidFill>
                <a:schemeClr val="tx1"/>
              </a:solidFill>
            </a:endParaRPr>
          </a:p>
          <a:p>
            <a:pPr algn="l"/>
            <a:r>
              <a:rPr lang="ru-RU" sz="2000" u="sng" dirty="0">
                <a:solidFill>
                  <a:schemeClr val="tx1"/>
                </a:solidFill>
              </a:rPr>
              <a:t>Постановка </a:t>
            </a:r>
            <a:r>
              <a:rPr lang="ru-RU" sz="2000" u="sng" dirty="0" err="1">
                <a:solidFill>
                  <a:schemeClr val="tx1"/>
                </a:solidFill>
              </a:rPr>
              <a:t>задачі</a:t>
            </a:r>
            <a:r>
              <a:rPr lang="ru-RU" sz="2000" u="sng" dirty="0">
                <a:solidFill>
                  <a:schemeClr val="tx1"/>
                </a:solidFill>
              </a:rPr>
              <a:t>: </a:t>
            </a:r>
            <a:endParaRPr lang="ru-RU" sz="2000" dirty="0">
              <a:solidFill>
                <a:schemeClr val="tx1"/>
              </a:solidFill>
            </a:endParaRPr>
          </a:p>
          <a:p>
            <a:pPr algn="l"/>
            <a:br>
              <a:rPr lang="ru-RU" sz="2000" dirty="0">
                <a:solidFill>
                  <a:schemeClr val="tx1"/>
                </a:solidFill>
              </a:rPr>
            </a:br>
            <a:r>
              <a:rPr lang="ru-RU" sz="2000" dirty="0">
                <a:solidFill>
                  <a:schemeClr val="tx1"/>
                </a:solidFill>
              </a:rPr>
              <a:t>В базу </a:t>
            </a:r>
            <a:r>
              <a:rPr lang="ru-RU" sz="2000" dirty="0" err="1">
                <a:solidFill>
                  <a:schemeClr val="tx1"/>
                </a:solidFill>
              </a:rPr>
              <a:t>даних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заносяться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дані</a:t>
            </a:r>
            <a:r>
              <a:rPr lang="ru-RU" sz="2000" dirty="0">
                <a:solidFill>
                  <a:schemeClr val="tx1"/>
                </a:solidFill>
              </a:rPr>
              <a:t> про авто: </a:t>
            </a:r>
            <a:r>
              <a:rPr lang="ru-RU" sz="2000" dirty="0" err="1">
                <a:solidFill>
                  <a:schemeClr val="tx1"/>
                </a:solidFill>
              </a:rPr>
              <a:t>Вік</a:t>
            </a:r>
            <a:r>
              <a:rPr lang="ru-RU" sz="2000" dirty="0">
                <a:solidFill>
                  <a:schemeClr val="tx1"/>
                </a:solidFill>
              </a:rPr>
              <a:t>, </a:t>
            </a:r>
            <a:r>
              <a:rPr lang="ru-RU" sz="2000" dirty="0" err="1">
                <a:solidFill>
                  <a:schemeClr val="tx1"/>
                </a:solidFill>
              </a:rPr>
              <a:t>комплектаці</a:t>
            </a:r>
            <a:r>
              <a:rPr lang="ru-RU" sz="2000" dirty="0">
                <a:solidFill>
                  <a:schemeClr val="tx1"/>
                </a:solidFill>
              </a:rPr>
              <a:t>, </a:t>
            </a:r>
            <a:r>
              <a:rPr lang="ru-RU" sz="2000" dirty="0" err="1">
                <a:solidFill>
                  <a:schemeClr val="tx1"/>
                </a:solidFill>
              </a:rPr>
              <a:t>розхід</a:t>
            </a:r>
            <a:r>
              <a:rPr lang="ru-RU" sz="2000" dirty="0">
                <a:solidFill>
                  <a:schemeClr val="tx1"/>
                </a:solidFill>
              </a:rPr>
              <a:t>, </a:t>
            </a:r>
            <a:r>
              <a:rPr lang="ru-RU" sz="2000" dirty="0" err="1">
                <a:solidFill>
                  <a:schemeClr val="tx1"/>
                </a:solidFill>
              </a:rPr>
              <a:t>колір</a:t>
            </a:r>
            <a:r>
              <a:rPr lang="ru-RU" sz="2000" dirty="0">
                <a:solidFill>
                  <a:schemeClr val="tx1"/>
                </a:solidFill>
              </a:rPr>
              <a:t>, </a:t>
            </a:r>
            <a:r>
              <a:rPr lang="ru-RU" sz="2000" dirty="0" err="1">
                <a:solidFill>
                  <a:schemeClr val="tx1"/>
                </a:solidFill>
              </a:rPr>
              <a:t>кількість</a:t>
            </a:r>
            <a:r>
              <a:rPr lang="ru-RU" sz="2000" dirty="0">
                <a:solidFill>
                  <a:schemeClr val="tx1"/>
                </a:solidFill>
              </a:rPr>
              <a:t> дверей, </a:t>
            </a:r>
            <a:r>
              <a:rPr lang="ru-RU" sz="2000" dirty="0" err="1">
                <a:solidFill>
                  <a:schemeClr val="tx1"/>
                </a:solidFill>
              </a:rPr>
              <a:t>тощо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uk-UA" sz="2000" dirty="0">
                <a:solidFill>
                  <a:schemeClr val="tx1"/>
                </a:solidFill>
              </a:rPr>
              <a:t>.</a:t>
            </a:r>
          </a:p>
          <a:p>
            <a:pPr algn="l"/>
            <a:r>
              <a:rPr lang="ru-RU" sz="2000" dirty="0" err="1">
                <a:solidFill>
                  <a:schemeClr val="tx1"/>
                </a:solidFill>
              </a:rPr>
              <a:t>Реалізувати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пошук</a:t>
            </a:r>
            <a:r>
              <a:rPr lang="ru-RU" sz="2000" dirty="0">
                <a:solidFill>
                  <a:schemeClr val="tx1"/>
                </a:solidFill>
              </a:rPr>
              <a:t> авто та </a:t>
            </a:r>
            <a:r>
              <a:rPr lang="ru-RU" sz="2000" dirty="0" err="1">
                <a:solidFill>
                  <a:schemeClr val="tx1"/>
                </a:solidFill>
              </a:rPr>
              <a:t>сортування</a:t>
            </a:r>
            <a:r>
              <a:rPr lang="ru-RU" sz="2000" dirty="0">
                <a:solidFill>
                  <a:schemeClr val="tx1"/>
                </a:solidFill>
              </a:rPr>
              <a:t> та </a:t>
            </a:r>
            <a:r>
              <a:rPr lang="ru-RU" sz="2000" dirty="0" err="1">
                <a:solidFill>
                  <a:schemeClr val="tx1"/>
                </a:solidFill>
              </a:rPr>
              <a:t>фільтрацію</a:t>
            </a:r>
            <a:r>
              <a:rPr lang="ru-RU" sz="2000" dirty="0">
                <a:solidFill>
                  <a:schemeClr val="tx1"/>
                </a:solidFill>
              </a:rPr>
              <a:t> за </a:t>
            </a:r>
            <a:r>
              <a:rPr lang="ru-RU" sz="2000" dirty="0" err="1">
                <a:solidFill>
                  <a:schemeClr val="tx1"/>
                </a:solidFill>
              </a:rPr>
              <a:t>різними</a:t>
            </a:r>
            <a:r>
              <a:rPr lang="ru-RU" sz="2000" dirty="0">
                <a:solidFill>
                  <a:schemeClr val="tx1"/>
                </a:solidFill>
              </a:rPr>
              <a:t> параметрами.</a:t>
            </a:r>
          </a:p>
          <a:p>
            <a:br>
              <a:rPr lang="ru-RU" sz="2000" dirty="0">
                <a:solidFill>
                  <a:schemeClr val="tx1"/>
                </a:solidFill>
              </a:rPr>
            </a:br>
            <a:br>
              <a:rPr lang="en-US" sz="2000" dirty="0">
                <a:solidFill>
                  <a:schemeClr val="tx1"/>
                </a:solidFill>
              </a:rPr>
            </a:br>
            <a:endParaRPr lang="ru-RU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2607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67544" y="692696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ru-RU" b="1" dirty="0" err="1"/>
              <a:t>Вихідні</a:t>
            </a:r>
            <a:r>
              <a:rPr lang="ru-RU" b="1" dirty="0"/>
              <a:t> </a:t>
            </a:r>
            <a:r>
              <a:rPr lang="ru-RU" b="1" dirty="0" err="1"/>
              <a:t>дані</a:t>
            </a:r>
            <a:r>
              <a:rPr lang="ru-RU" b="1" dirty="0"/>
              <a:t> до </a:t>
            </a:r>
            <a:r>
              <a:rPr lang="ru-RU" b="1" dirty="0" err="1"/>
              <a:t>проєкту</a:t>
            </a: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51520" y="1772816"/>
            <a:ext cx="8496944" cy="5688632"/>
          </a:xfrm>
        </p:spPr>
        <p:txBody>
          <a:bodyPr>
            <a:normAutofit/>
          </a:bodyPr>
          <a:lstStyle/>
          <a:p>
            <a:pPr marL="457200" lvl="0" indent="-457200" algn="l" fontAlgn="base">
              <a:buFont typeface="Arial" pitchFamily="34" charset="0"/>
              <a:buChar char="•"/>
            </a:pPr>
            <a:r>
              <a:rPr lang="uk-UA" sz="2000" dirty="0">
                <a:solidFill>
                  <a:schemeClr val="tx1"/>
                </a:solidFill>
              </a:rPr>
              <a:t>Створити базу даних –</a:t>
            </a:r>
            <a:r>
              <a:rPr lang="en-US" sz="2000" dirty="0">
                <a:solidFill>
                  <a:schemeClr val="tx1"/>
                </a:solidFill>
              </a:rPr>
              <a:t>Csv file</a:t>
            </a:r>
            <a:r>
              <a:rPr lang="uk-UA" sz="2000" dirty="0">
                <a:solidFill>
                  <a:schemeClr val="tx1"/>
                </a:solidFill>
              </a:rPr>
              <a:t>, в який будуть вноситись дані про авто;</a:t>
            </a:r>
            <a:endParaRPr lang="ru-RU" sz="2000" dirty="0">
              <a:solidFill>
                <a:schemeClr val="tx1"/>
              </a:solidFill>
            </a:endParaRPr>
          </a:p>
          <a:p>
            <a:pPr marL="457200" lvl="0" indent="-457200" algn="l" fontAlgn="base">
              <a:buFont typeface="Arial" pitchFamily="34" charset="0"/>
              <a:buChar char="•"/>
            </a:pPr>
            <a:r>
              <a:rPr lang="uk-UA" sz="2000" dirty="0">
                <a:solidFill>
                  <a:schemeClr val="tx1"/>
                </a:solidFill>
              </a:rPr>
              <a:t>Передбачити ввід та вивід даних через консоль;</a:t>
            </a:r>
            <a:endParaRPr lang="ru-RU" sz="2000" dirty="0">
              <a:solidFill>
                <a:schemeClr val="tx1"/>
              </a:solidFill>
            </a:endParaRPr>
          </a:p>
          <a:p>
            <a:pPr marL="457200" lvl="0" indent="-457200" algn="l" fontAlgn="base">
              <a:buFont typeface="Arial" pitchFamily="34" charset="0"/>
              <a:buChar char="•"/>
            </a:pPr>
            <a:r>
              <a:rPr lang="uk-UA" sz="2000" dirty="0">
                <a:solidFill>
                  <a:schemeClr val="tx1"/>
                </a:solidFill>
              </a:rPr>
              <a:t>Розробити консольне меню, для виконання функцій програми (додавання, редагування, видалення, перегляд);</a:t>
            </a:r>
            <a:endParaRPr lang="ru-RU" sz="2000" dirty="0">
              <a:solidFill>
                <a:schemeClr val="tx1"/>
              </a:solidFill>
            </a:endParaRPr>
          </a:p>
          <a:p>
            <a:pPr marL="457200" lvl="0" indent="-457200" algn="l" fontAlgn="base">
              <a:buFont typeface="Arial" pitchFamily="34" charset="0"/>
              <a:buChar char="•"/>
            </a:pPr>
            <a:r>
              <a:rPr lang="uk-UA" sz="2000" dirty="0">
                <a:solidFill>
                  <a:schemeClr val="tx1"/>
                </a:solidFill>
              </a:rPr>
              <a:t>Передбачити сортування та фільтрацію записів з бази даних;</a:t>
            </a:r>
            <a:endParaRPr lang="ru-RU" sz="2000" dirty="0">
              <a:solidFill>
                <a:schemeClr val="tx1"/>
              </a:solidFill>
            </a:endParaRPr>
          </a:p>
          <a:p>
            <a:pPr marL="457200" indent="-457200" algn="l">
              <a:buFont typeface="Arial" pitchFamily="34" charset="0"/>
              <a:buChar char="•"/>
            </a:pPr>
            <a:r>
              <a:rPr lang="uk-UA" sz="2000" dirty="0">
                <a:solidFill>
                  <a:schemeClr val="tx1"/>
                </a:solidFill>
              </a:rPr>
              <a:t>Передбачити перевірку коректності вводу даних та обробку виключень.</a:t>
            </a:r>
            <a:endParaRPr lang="ru-RU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5280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3568" y="476672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ru-RU" b="1" dirty="0" err="1"/>
              <a:t>Модулі</a:t>
            </a:r>
            <a:r>
              <a:rPr lang="ru-RU" b="1" dirty="0"/>
              <a:t> (</a:t>
            </a:r>
            <a:r>
              <a:rPr lang="ru-RU" b="1" dirty="0" err="1"/>
              <a:t>класи</a:t>
            </a:r>
            <a:r>
              <a:rPr lang="ru-RU" b="1" dirty="0"/>
              <a:t>) </a:t>
            </a:r>
            <a:r>
              <a:rPr lang="ru-RU" b="1" dirty="0" err="1"/>
              <a:t>програми</a:t>
            </a: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23528" y="980728"/>
            <a:ext cx="8568952" cy="5688632"/>
          </a:xfrm>
        </p:spPr>
        <p:txBody>
          <a:bodyPr>
            <a:normAutofit fontScale="70000" lnSpcReduction="20000"/>
          </a:bodyPr>
          <a:lstStyle/>
          <a:p>
            <a:pPr marL="457200" lvl="0" indent="-457200" algn="l"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	Vehicle – </a:t>
            </a:r>
            <a:r>
              <a:rPr lang="uk-UA" dirty="0">
                <a:solidFill>
                  <a:schemeClr val="tx1"/>
                </a:solidFill>
              </a:rPr>
              <a:t>абстрактний клас що представляє транспортний засіб, у якому оголошені основні методи для дочірніх класів.</a:t>
            </a:r>
          </a:p>
          <a:p>
            <a:pPr marL="457200" lvl="0" indent="-457200" algn="l">
              <a:buFont typeface="Arial" pitchFamily="34" charset="0"/>
              <a:buChar char="•"/>
            </a:pPr>
            <a:r>
              <a:rPr lang="uk-UA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</a:rPr>
              <a:t>Car – </a:t>
            </a:r>
            <a:r>
              <a:rPr lang="uk-UA" dirty="0">
                <a:solidFill>
                  <a:schemeClr val="tx1"/>
                </a:solidFill>
              </a:rPr>
              <a:t>клас нащадок </a:t>
            </a:r>
            <a:r>
              <a:rPr lang="en-US" dirty="0">
                <a:solidFill>
                  <a:schemeClr val="tx1"/>
                </a:solidFill>
              </a:rPr>
              <a:t>Vehicle, </a:t>
            </a:r>
            <a:r>
              <a:rPr lang="uk-UA" dirty="0">
                <a:solidFill>
                  <a:schemeClr val="tx1"/>
                </a:solidFill>
              </a:rPr>
              <a:t>клас що представляє автомобіль.</a:t>
            </a:r>
          </a:p>
          <a:p>
            <a:pPr marL="457200" lvl="0" indent="-457200" algn="l">
              <a:buFont typeface="Arial" pitchFamily="34" charset="0"/>
              <a:buChar char="•"/>
            </a:pPr>
            <a:r>
              <a:rPr lang="uk-UA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</a:rPr>
              <a:t>Configuration – </a:t>
            </a:r>
            <a:r>
              <a:rPr lang="uk-UA" dirty="0">
                <a:solidFill>
                  <a:schemeClr val="tx1"/>
                </a:solidFill>
              </a:rPr>
              <a:t>клас нащадок </a:t>
            </a:r>
            <a:r>
              <a:rPr lang="en-US" dirty="0">
                <a:solidFill>
                  <a:schemeClr val="tx1"/>
                </a:solidFill>
              </a:rPr>
              <a:t>Vehicle, </a:t>
            </a:r>
            <a:r>
              <a:rPr lang="uk-UA" dirty="0">
                <a:solidFill>
                  <a:schemeClr val="tx1"/>
                </a:solidFill>
              </a:rPr>
              <a:t>який описує конфігурацію автомобілів.</a:t>
            </a:r>
          </a:p>
          <a:p>
            <a:pPr marL="457200" lvl="0" indent="-457200" algn="l">
              <a:buFont typeface="Arial" pitchFamily="34" charset="0"/>
              <a:buChar char="•"/>
            </a:pPr>
            <a:r>
              <a:rPr lang="uk-UA" dirty="0">
                <a:solidFill>
                  <a:schemeClr val="tx1"/>
                </a:solidFill>
              </a:rPr>
              <a:t>	</a:t>
            </a:r>
            <a:r>
              <a:rPr lang="en-US" dirty="0" err="1">
                <a:solidFill>
                  <a:schemeClr val="tx1"/>
                </a:solidFill>
              </a:rPr>
              <a:t>CarManager</a:t>
            </a:r>
            <a:r>
              <a:rPr lang="en-US" dirty="0">
                <a:solidFill>
                  <a:schemeClr val="tx1"/>
                </a:solidFill>
              </a:rPr>
              <a:t> – </a:t>
            </a:r>
            <a:r>
              <a:rPr lang="uk-UA" dirty="0">
                <a:solidFill>
                  <a:schemeClr val="tx1"/>
                </a:solidFill>
              </a:rPr>
              <a:t>клас нащадок </a:t>
            </a:r>
            <a:r>
              <a:rPr lang="en-US" dirty="0">
                <a:solidFill>
                  <a:schemeClr val="tx1"/>
                </a:solidFill>
              </a:rPr>
              <a:t>Car, </a:t>
            </a:r>
            <a:r>
              <a:rPr lang="uk-UA" dirty="0">
                <a:solidFill>
                  <a:schemeClr val="tx1"/>
                </a:solidFill>
              </a:rPr>
              <a:t>менеджер-клас для керування колекцією автомобілів. Реалізує всю бізнес-логіку програми: </a:t>
            </a:r>
            <a:r>
              <a:rPr lang="en-US" dirty="0">
                <a:solidFill>
                  <a:schemeClr val="tx1"/>
                </a:solidFill>
              </a:rPr>
              <a:t>CRUD-</a:t>
            </a:r>
            <a:r>
              <a:rPr lang="uk-UA" dirty="0">
                <a:solidFill>
                  <a:schemeClr val="tx1"/>
                </a:solidFill>
              </a:rPr>
              <a:t>операції, завантаження/збереження, пошук, сортування, фільтрацію та аналітику.</a:t>
            </a:r>
          </a:p>
          <a:p>
            <a:pPr marL="457200" lvl="0" indent="-457200" algn="l">
              <a:buFont typeface="Arial" pitchFamily="34" charset="0"/>
              <a:buChar char="•"/>
            </a:pPr>
            <a:r>
              <a:rPr lang="uk-UA" dirty="0">
                <a:solidFill>
                  <a:schemeClr val="tx1"/>
                </a:solidFill>
              </a:rPr>
              <a:t>	</a:t>
            </a:r>
            <a:r>
              <a:rPr lang="en-US" dirty="0" err="1">
                <a:solidFill>
                  <a:schemeClr val="tx1"/>
                </a:solidFill>
              </a:rPr>
              <a:t>AuthManager</a:t>
            </a:r>
            <a:r>
              <a:rPr lang="en-US" dirty="0">
                <a:solidFill>
                  <a:schemeClr val="tx1"/>
                </a:solidFill>
              </a:rPr>
              <a:t> – </a:t>
            </a:r>
            <a:r>
              <a:rPr lang="uk-UA" dirty="0">
                <a:solidFill>
                  <a:schemeClr val="tx1"/>
                </a:solidFill>
              </a:rPr>
              <a:t>клас для управління авторизаціє.</a:t>
            </a:r>
          </a:p>
          <a:p>
            <a:pPr marL="457200" lvl="0" indent="-457200" algn="l">
              <a:buFont typeface="Arial" pitchFamily="34" charset="0"/>
              <a:buChar char="•"/>
            </a:pPr>
            <a:r>
              <a:rPr lang="uk-UA" dirty="0">
                <a:solidFill>
                  <a:schemeClr val="tx1"/>
                </a:solidFill>
              </a:rPr>
              <a:t>	</a:t>
            </a:r>
            <a:r>
              <a:rPr lang="en-US" dirty="0" err="1">
                <a:solidFill>
                  <a:schemeClr val="tx1"/>
                </a:solidFill>
              </a:rPr>
              <a:t>IPrintable</a:t>
            </a:r>
            <a:r>
              <a:rPr lang="en-US" dirty="0">
                <a:solidFill>
                  <a:schemeClr val="tx1"/>
                </a:solidFill>
              </a:rPr>
              <a:t> – </a:t>
            </a:r>
            <a:r>
              <a:rPr lang="uk-UA" dirty="0">
                <a:solidFill>
                  <a:schemeClr val="tx1"/>
                </a:solidFill>
              </a:rPr>
              <a:t>клас інтерфейс всі класи що наслідують його </a:t>
            </a:r>
            <a:r>
              <a:rPr lang="uk-UA" dirty="0" err="1">
                <a:solidFill>
                  <a:schemeClr val="tx1"/>
                </a:solidFill>
              </a:rPr>
              <a:t>зообовязанні</a:t>
            </a:r>
            <a:r>
              <a:rPr lang="uk-UA" dirty="0">
                <a:solidFill>
                  <a:schemeClr val="tx1"/>
                </a:solidFill>
              </a:rPr>
              <a:t> представити реалізацію методів </a:t>
            </a:r>
            <a:r>
              <a:rPr lang="en-US" dirty="0">
                <a:solidFill>
                  <a:schemeClr val="tx1"/>
                </a:solidFill>
              </a:rPr>
              <a:t>Print() and </a:t>
            </a:r>
            <a:r>
              <a:rPr lang="en-US" dirty="0" err="1">
                <a:solidFill>
                  <a:schemeClr val="tx1"/>
                </a:solidFill>
              </a:rPr>
              <a:t>ToCSV</a:t>
            </a:r>
            <a:r>
              <a:rPr lang="en-US" dirty="0">
                <a:solidFill>
                  <a:schemeClr val="tx1"/>
                </a:solidFill>
              </a:rPr>
              <a:t>().</a:t>
            </a:r>
          </a:p>
          <a:p>
            <a:pPr algn="l"/>
            <a:br>
              <a:rPr lang="ru-RU" dirty="0">
                <a:solidFill>
                  <a:schemeClr val="tx1"/>
                </a:solidFill>
              </a:rPr>
            </a:b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5474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54868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err="1"/>
              <a:t>Алгоритми</a:t>
            </a:r>
            <a:r>
              <a:rPr lang="ru-RU" b="1" dirty="0"/>
              <a:t> </a:t>
            </a:r>
            <a:r>
              <a:rPr lang="ru-RU" b="1" dirty="0" err="1"/>
              <a:t>роботи</a:t>
            </a:r>
            <a:r>
              <a:rPr lang="ru-RU" b="1" dirty="0"/>
              <a:t> </a:t>
            </a:r>
            <a:r>
              <a:rPr lang="ru-RU" b="1" dirty="0" err="1"/>
              <a:t>програми</a:t>
            </a: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323528" y="980728"/>
            <a:ext cx="4038600" cy="4525963"/>
          </a:xfrm>
        </p:spPr>
        <p:txBody>
          <a:bodyPr>
            <a:normAutofit/>
          </a:bodyPr>
          <a:lstStyle/>
          <a:p>
            <a:r>
              <a:rPr lang="uk-UA" sz="1600" dirty="0"/>
              <a:t>Рисунок 1 – Узагальнена блок-схема алгоритму додавання  об’єкту</a:t>
            </a:r>
          </a:p>
          <a:p>
            <a:endParaRPr lang="ru-RU" sz="1600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499992" y="980728"/>
            <a:ext cx="4038600" cy="4525963"/>
          </a:xfrm>
        </p:spPr>
        <p:txBody>
          <a:bodyPr>
            <a:normAutofit/>
          </a:bodyPr>
          <a:lstStyle/>
          <a:p>
            <a:r>
              <a:rPr lang="uk-UA" sz="1600" dirty="0"/>
              <a:t>Рисунок 2 – Узагальнена блок-схема алгоритму редагування об’єкту</a:t>
            </a:r>
          </a:p>
          <a:p>
            <a:endParaRPr lang="ru-RU" sz="1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628800"/>
            <a:ext cx="2808312" cy="4919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1628800"/>
            <a:ext cx="1686297" cy="4650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53271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H="1" flipV="1">
            <a:off x="251520" y="188640"/>
            <a:ext cx="205680" cy="85998"/>
          </a:xfrm>
        </p:spPr>
        <p:txBody>
          <a:bodyPr>
            <a:normAutofit fontScale="90000"/>
          </a:bodyPr>
          <a:lstStyle/>
          <a:p>
            <a:r>
              <a:rPr lang="uk-UA" dirty="0"/>
              <a:t>.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323528" y="404664"/>
            <a:ext cx="4038600" cy="4525963"/>
          </a:xfrm>
        </p:spPr>
        <p:txBody>
          <a:bodyPr/>
          <a:lstStyle/>
          <a:p>
            <a:r>
              <a:rPr lang="uk-UA" sz="1600" dirty="0"/>
              <a:t>Рисунок 3 – Узагальнена блок-схема алгоритму видалення об’єкта</a:t>
            </a:r>
            <a:endParaRPr lang="ru-RU" sz="1600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0" y="332656"/>
            <a:ext cx="4038600" cy="4525963"/>
          </a:xfrm>
        </p:spPr>
        <p:txBody>
          <a:bodyPr/>
          <a:lstStyle/>
          <a:p>
            <a:r>
              <a:rPr lang="uk-UA" sz="1600" dirty="0"/>
              <a:t>Рисунок 4 – Узагальнена блок-схема алгоритму перегляду доданих об’єктів та їх сортування</a:t>
            </a:r>
            <a:endParaRPr lang="ru-RU" sz="1600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124744"/>
            <a:ext cx="2971800" cy="508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1196752"/>
            <a:ext cx="2276475" cy="531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14967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7504" y="116633"/>
            <a:ext cx="8856984" cy="1368151"/>
          </a:xfrm>
        </p:spPr>
        <p:txBody>
          <a:bodyPr>
            <a:normAutofit fontScale="90000"/>
          </a:bodyPr>
          <a:lstStyle/>
          <a:p>
            <a:r>
              <a:rPr lang="uk-UA" b="1" dirty="0"/>
              <a:t>Вимоги до консольного інтерфейсу користувача</a:t>
            </a:r>
            <a:endParaRPr lang="ru-RU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51520" y="1412776"/>
            <a:ext cx="8568952" cy="5184576"/>
          </a:xfrm>
        </p:spPr>
        <p:txBody>
          <a:bodyPr>
            <a:normAutofit/>
          </a:bodyPr>
          <a:lstStyle/>
          <a:p>
            <a:pPr marL="342900" lvl="0" indent="-342900" algn="l">
              <a:buFont typeface="Arial" pitchFamily="34" charset="0"/>
              <a:buChar char="•"/>
            </a:pPr>
            <a:r>
              <a:rPr lang="uk-UA" sz="2000" dirty="0">
                <a:solidFill>
                  <a:schemeClr val="tx1"/>
                </a:solidFill>
              </a:rPr>
              <a:t>Робоча мова інтерфейсу – українська.</a:t>
            </a:r>
          </a:p>
          <a:p>
            <a:pPr lvl="0" algn="l"/>
            <a:endParaRPr lang="ru-RU" sz="2000" dirty="0">
              <a:solidFill>
                <a:schemeClr val="tx1"/>
              </a:solidFill>
            </a:endParaRPr>
          </a:p>
          <a:p>
            <a:pPr marL="342900" lvl="0" indent="-342900" algn="l">
              <a:buFont typeface="Arial" pitchFamily="34" charset="0"/>
              <a:buChar char="•"/>
            </a:pPr>
            <a:r>
              <a:rPr lang="uk-UA" sz="2000" dirty="0">
                <a:solidFill>
                  <a:schemeClr val="tx1"/>
                </a:solidFill>
              </a:rPr>
              <a:t>Використання термінів, зрозумілих користувачеві. </a:t>
            </a:r>
          </a:p>
          <a:p>
            <a:pPr lvl="0" algn="l"/>
            <a:endParaRPr lang="ru-RU" sz="2000" dirty="0">
              <a:solidFill>
                <a:schemeClr val="tx1"/>
              </a:solidFill>
            </a:endParaRPr>
          </a:p>
          <a:p>
            <a:pPr marL="342900" lvl="0" indent="-342900" algn="l">
              <a:buFont typeface="Arial" pitchFamily="34" charset="0"/>
              <a:buChar char="•"/>
            </a:pPr>
            <a:r>
              <a:rPr lang="uk-UA" sz="2000" dirty="0">
                <a:solidFill>
                  <a:schemeClr val="tx1"/>
                </a:solidFill>
              </a:rPr>
              <a:t>Навігаційна панель (меню), яка забезпечує перегляд, редагування, додавання та зчитування даних.</a:t>
            </a:r>
          </a:p>
          <a:p>
            <a:pPr lvl="0" algn="l"/>
            <a:endParaRPr lang="ru-RU" sz="2000" dirty="0">
              <a:solidFill>
                <a:schemeClr val="tx1"/>
              </a:solidFill>
            </a:endParaRPr>
          </a:p>
          <a:p>
            <a:pPr marL="342900" lvl="0" indent="-342900" algn="l">
              <a:buFont typeface="Arial" pitchFamily="34" charset="0"/>
              <a:buChar char="•"/>
            </a:pPr>
            <a:r>
              <a:rPr lang="uk-UA" sz="2000" dirty="0">
                <a:solidFill>
                  <a:schemeClr val="tx1"/>
                </a:solidFill>
              </a:rPr>
              <a:t>«Посібник користувача», що містить інструкції з використання програми.</a:t>
            </a:r>
          </a:p>
          <a:p>
            <a:pPr lvl="0" algn="l"/>
            <a:endParaRPr lang="ru-RU" sz="2000" dirty="0">
              <a:solidFill>
                <a:schemeClr val="tx1"/>
              </a:solidFill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uk-UA" sz="2000" dirty="0">
                <a:solidFill>
                  <a:schemeClr val="tx1"/>
                </a:solidFill>
              </a:rPr>
              <a:t>Повідомлення про некоректно введені дані</a:t>
            </a:r>
            <a:endParaRPr lang="ru-RU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9852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55576" y="260648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ru-RU" b="1" dirty="0" err="1"/>
              <a:t>Опис</a:t>
            </a:r>
            <a:r>
              <a:rPr lang="ru-RU" b="1" dirty="0"/>
              <a:t> </a:t>
            </a:r>
            <a:r>
              <a:rPr lang="ru-RU" b="1" dirty="0" err="1"/>
              <a:t>користувацького</a:t>
            </a:r>
            <a:r>
              <a:rPr lang="ru-RU" b="1" dirty="0"/>
              <a:t> </a:t>
            </a:r>
            <a:r>
              <a:rPr lang="ru-RU" b="1" dirty="0" err="1"/>
              <a:t>інтерфейсу</a:t>
            </a: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23528" y="764704"/>
            <a:ext cx="8568952" cy="5904656"/>
          </a:xfrm>
        </p:spPr>
        <p:txBody>
          <a:bodyPr>
            <a:normAutofit/>
          </a:bodyPr>
          <a:lstStyle/>
          <a:p>
            <a:pPr algn="l"/>
            <a:r>
              <a:rPr lang="uk-UA" sz="2400" dirty="0">
                <a:solidFill>
                  <a:schemeClr val="tx1"/>
                </a:solidFill>
              </a:rPr>
              <a:t>Після авторизації як адміністратор, в консоль виводитися меню, яке складається з 6 пунктів. Де адміністратор може додавати, видаляти та </a:t>
            </a:r>
            <a:r>
              <a:rPr lang="uk-UA" sz="2400" dirty="0" err="1">
                <a:solidFill>
                  <a:schemeClr val="tx1"/>
                </a:solidFill>
              </a:rPr>
              <a:t>перглядати</a:t>
            </a:r>
            <a:r>
              <a:rPr lang="uk-UA" sz="2400" dirty="0">
                <a:solidFill>
                  <a:schemeClr val="tx1"/>
                </a:solidFill>
              </a:rPr>
              <a:t> список користувачів</a:t>
            </a:r>
          </a:p>
          <a:p>
            <a:pPr algn="l"/>
            <a:r>
              <a:rPr lang="uk-UA" sz="2400" dirty="0">
                <a:solidFill>
                  <a:schemeClr val="tx1"/>
                </a:solidFill>
              </a:rPr>
              <a:t>Після </a:t>
            </a:r>
            <a:r>
              <a:rPr lang="uk-UA" sz="2400" dirty="0" err="1">
                <a:solidFill>
                  <a:schemeClr val="tx1"/>
                </a:solidFill>
              </a:rPr>
              <a:t>вибуру</a:t>
            </a:r>
            <a:r>
              <a:rPr lang="uk-UA" sz="2400" dirty="0">
                <a:solidFill>
                  <a:schemeClr val="tx1"/>
                </a:solidFill>
              </a:rPr>
              <a:t> пункту чотири адміністратора перекидає у меню що складається з 23 пунктів. В якому адміністратор може переглядати, додавати, редагувати та видаляти авто з бази даних. Всі інші функції окрім </a:t>
            </a:r>
            <a:r>
              <a:rPr lang="uk-UA" sz="2400" dirty="0" err="1">
                <a:solidFill>
                  <a:schemeClr val="tx1"/>
                </a:solidFill>
              </a:rPr>
              <a:t>перелічиних</a:t>
            </a:r>
            <a:r>
              <a:rPr lang="uk-UA" sz="2400" dirty="0">
                <a:solidFill>
                  <a:schemeClr val="tx1"/>
                </a:solidFill>
              </a:rPr>
              <a:t> вище доступні також користувачу такі як, фільтрація, сортування, пошук за одним або більше критеріями авто. Також у адміністратора та простого користувача є окремий пункт з описом як працювати з програмою також увесь ввід є безпечним через обробки </a:t>
            </a:r>
            <a:r>
              <a:rPr lang="en-US" sz="2400" dirty="0">
                <a:solidFill>
                  <a:schemeClr val="tx1"/>
                </a:solidFill>
              </a:rPr>
              <a:t>try-catch</a:t>
            </a:r>
            <a:r>
              <a:rPr lang="uk-UA" sz="2400" dirty="0">
                <a:solidFill>
                  <a:schemeClr val="tx1"/>
                </a:solidFill>
              </a:rPr>
              <a:t>.  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2689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69269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err="1"/>
              <a:t>Опис</a:t>
            </a:r>
            <a:r>
              <a:rPr lang="ru-RU" b="1" dirty="0"/>
              <a:t> </a:t>
            </a:r>
            <a:r>
              <a:rPr lang="ru-RU" b="1" dirty="0" err="1"/>
              <a:t>користувацького</a:t>
            </a:r>
            <a:r>
              <a:rPr lang="ru-RU" b="1" dirty="0"/>
              <a:t> </a:t>
            </a:r>
            <a:r>
              <a:rPr lang="ru-RU" b="1" dirty="0" err="1"/>
              <a:t>інтерфейсу</a:t>
            </a: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pic>
        <p:nvPicPr>
          <p:cNvPr id="5" name="Місце для вмісту 4">
            <a:extLst>
              <a:ext uri="{FF2B5EF4-FFF2-40B4-BE49-F238E27FC236}">
                <a16:creationId xmlns:a16="http://schemas.microsoft.com/office/drawing/2014/main" id="{26BDA2CB-3D82-4448-8D87-296080F3DA9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03597" y="1143870"/>
            <a:ext cx="4038600" cy="228425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A27859-C919-4B8E-BF43-8FE209DF8FB3}"/>
              </a:ext>
            </a:extLst>
          </p:cNvPr>
          <p:cNvSpPr txBox="1"/>
          <p:nvPr/>
        </p:nvSpPr>
        <p:spPr>
          <a:xfrm>
            <a:off x="518864" y="3429000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Рисунок 5 – меню адміністратора</a:t>
            </a:r>
          </a:p>
        </p:txBody>
      </p:sp>
      <p:pic>
        <p:nvPicPr>
          <p:cNvPr id="9" name="Місце для вмісту 8">
            <a:extLst>
              <a:ext uri="{FF2B5EF4-FFF2-40B4-BE49-F238E27FC236}">
                <a16:creationId xmlns:a16="http://schemas.microsoft.com/office/drawing/2014/main" id="{89BCC462-82C2-486F-8FDD-0A20099FD5B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671824" y="924825"/>
            <a:ext cx="4038600" cy="4139987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B9AC993-C4C5-4D31-A54F-7D19D69C2535}"/>
              </a:ext>
            </a:extLst>
          </p:cNvPr>
          <p:cNvSpPr txBox="1"/>
          <p:nvPr/>
        </p:nvSpPr>
        <p:spPr>
          <a:xfrm>
            <a:off x="4650258" y="5022305"/>
            <a:ext cx="40982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Рисунок 6 – меню автомобілів для адміністратора</a:t>
            </a:r>
          </a:p>
        </p:txBody>
      </p:sp>
    </p:spTree>
    <p:extLst>
      <p:ext uri="{BB962C8B-B14F-4D97-AF65-F5344CB8AC3E}">
        <p14:creationId xmlns:p14="http://schemas.microsoft.com/office/powerpoint/2010/main" val="1762032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5099C8A-3C93-4C1E-AA3D-E9EF6061C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66" y="44624"/>
            <a:ext cx="7135221" cy="12384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542EE5D-AEDA-4612-9AA5-9180234B8890}"/>
              </a:ext>
            </a:extLst>
          </p:cNvPr>
          <p:cNvSpPr txBox="1"/>
          <p:nvPr/>
        </p:nvSpPr>
        <p:spPr>
          <a:xfrm>
            <a:off x="36066" y="1283047"/>
            <a:ext cx="7135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Рисунок 7 – вивід всіх авто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594AA9A-A1EB-4279-9031-2B2A7CD62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1681474"/>
            <a:ext cx="4848902" cy="41820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64E25F-C831-4851-984D-B54C51363A23}"/>
              </a:ext>
            </a:extLst>
          </p:cNvPr>
          <p:cNvSpPr txBox="1"/>
          <p:nvPr/>
        </p:nvSpPr>
        <p:spPr>
          <a:xfrm>
            <a:off x="611560" y="5805264"/>
            <a:ext cx="4824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Рисунок 8 – додавання авто до </a:t>
            </a:r>
            <a:r>
              <a:rPr lang="uk-UA" dirty="0" err="1"/>
              <a:t>бд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204090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3F31983-AB2F-458B-A973-4A47EA983438}"/>
              </a:ext>
            </a:extLst>
          </p:cNvPr>
          <p:cNvSpPr txBox="1"/>
          <p:nvPr/>
        </p:nvSpPr>
        <p:spPr>
          <a:xfrm>
            <a:off x="0" y="2479162"/>
            <a:ext cx="72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Рисунок 9 – видалення авто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51B749D-1CD7-470A-8D51-0F02FFEDE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14" y="116632"/>
            <a:ext cx="7163800" cy="236253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B2B2B60-0A90-47D7-AE2F-907BDCE560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14" y="2848494"/>
            <a:ext cx="7163800" cy="164805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AD43E5B-B330-4B19-996A-0A228B8DFF59}"/>
              </a:ext>
            </a:extLst>
          </p:cNvPr>
          <p:cNvSpPr txBox="1"/>
          <p:nvPr/>
        </p:nvSpPr>
        <p:spPr>
          <a:xfrm>
            <a:off x="0" y="4581128"/>
            <a:ext cx="72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Рисунок 10 – пошук авто за критеріями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F36654A-145E-4BDF-BD2E-EBF2BCD7AF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41" y="4923048"/>
            <a:ext cx="7154273" cy="5525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8A953D3-1EF5-4BF8-833A-0BCC813F9851}"/>
              </a:ext>
            </a:extLst>
          </p:cNvPr>
          <p:cNvSpPr txBox="1"/>
          <p:nvPr/>
        </p:nvSpPr>
        <p:spPr>
          <a:xfrm>
            <a:off x="0" y="5532742"/>
            <a:ext cx="72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Рисунок 11 – пошук авто за витратою палива</a:t>
            </a:r>
          </a:p>
        </p:txBody>
      </p:sp>
    </p:spTree>
    <p:extLst>
      <p:ext uri="{BB962C8B-B14F-4D97-AF65-F5344CB8AC3E}">
        <p14:creationId xmlns:p14="http://schemas.microsoft.com/office/powerpoint/2010/main" val="1978708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8F09E27-CF26-4EAB-9D0D-C38066386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16632"/>
            <a:ext cx="7163800" cy="20005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0F4CA94-5A45-4A32-A9F7-89921969FAE3}"/>
              </a:ext>
            </a:extLst>
          </p:cNvPr>
          <p:cNvSpPr txBox="1"/>
          <p:nvPr/>
        </p:nvSpPr>
        <p:spPr>
          <a:xfrm>
            <a:off x="0" y="2121852"/>
            <a:ext cx="72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Рисунок 12 – розрахунок вартості поїздки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0513887-E2E0-4FA2-89BE-C99B7E208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2564904"/>
            <a:ext cx="7106642" cy="9050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99F5BF3-711F-4FD2-8B00-810136764D37}"/>
              </a:ext>
            </a:extLst>
          </p:cNvPr>
          <p:cNvSpPr txBox="1"/>
          <p:nvPr/>
        </p:nvSpPr>
        <p:spPr>
          <a:xfrm>
            <a:off x="0" y="3460781"/>
            <a:ext cx="72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Рисунок 13 – фільтрація за кольором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7243621-4785-47EC-9880-0B1B958AFB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04" y="3798319"/>
            <a:ext cx="7144747" cy="81926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5CFAF1C-B05D-4EA1-88E7-B9FC75311E0D}"/>
              </a:ext>
            </a:extLst>
          </p:cNvPr>
          <p:cNvSpPr txBox="1"/>
          <p:nvPr/>
        </p:nvSpPr>
        <p:spPr>
          <a:xfrm>
            <a:off x="13346" y="4618184"/>
            <a:ext cx="72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Рисунок 14 – фільтрація за роком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50F348D-2567-4339-A0E3-75F2AECC9D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43" y="4930165"/>
            <a:ext cx="7201905" cy="116221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29D2AF6-C36A-48D8-BA34-5311C18C3AEF}"/>
              </a:ext>
            </a:extLst>
          </p:cNvPr>
          <p:cNvSpPr txBox="1"/>
          <p:nvPr/>
        </p:nvSpPr>
        <p:spPr>
          <a:xfrm>
            <a:off x="15500" y="6092377"/>
            <a:ext cx="72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Рисунок 15 – сортування за витратами палива</a:t>
            </a:r>
          </a:p>
        </p:txBody>
      </p:sp>
    </p:spTree>
    <p:extLst>
      <p:ext uri="{BB962C8B-B14F-4D97-AF65-F5344CB8AC3E}">
        <p14:creationId xmlns:p14="http://schemas.microsoft.com/office/powerpoint/2010/main" val="2843129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7E76EFE-3D71-4E10-8913-1C59350D7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45720"/>
            <a:ext cx="7211431" cy="55824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9B2E591-5F14-44D4-B1E5-A6E2449726C4}"/>
              </a:ext>
            </a:extLst>
          </p:cNvPr>
          <p:cNvSpPr txBox="1"/>
          <p:nvPr/>
        </p:nvSpPr>
        <p:spPr>
          <a:xfrm>
            <a:off x="179511" y="5733256"/>
            <a:ext cx="7211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Рисунок 16 – довідка з користування програмою для адміністратора</a:t>
            </a:r>
          </a:p>
        </p:txBody>
      </p:sp>
    </p:spTree>
    <p:extLst>
      <p:ext uri="{BB962C8B-B14F-4D97-AF65-F5344CB8AC3E}">
        <p14:creationId xmlns:p14="http://schemas.microsoft.com/office/powerpoint/2010/main" val="3327111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C1CCB29-BF6D-4497-B056-4D65CB9FE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16632"/>
            <a:ext cx="5125165" cy="34866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09D9042-1D3C-45B2-BBE6-35F3F5878CC9}"/>
              </a:ext>
            </a:extLst>
          </p:cNvPr>
          <p:cNvSpPr txBox="1"/>
          <p:nvPr/>
        </p:nvSpPr>
        <p:spPr>
          <a:xfrm>
            <a:off x="107504" y="3573016"/>
            <a:ext cx="5112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Рисунок 17 – меню користувача без прав адміністратора</a:t>
            </a:r>
          </a:p>
        </p:txBody>
      </p:sp>
    </p:spTree>
    <p:extLst>
      <p:ext uri="{BB962C8B-B14F-4D97-AF65-F5344CB8AC3E}">
        <p14:creationId xmlns:p14="http://schemas.microsoft.com/office/powerpoint/2010/main" val="24009687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-171400"/>
            <a:ext cx="7772400" cy="1470025"/>
          </a:xfrm>
        </p:spPr>
        <p:txBody>
          <a:bodyPr/>
          <a:lstStyle/>
          <a:p>
            <a:r>
              <a:rPr lang="uk-UA" b="1" dirty="0"/>
              <a:t>Висновок:</a:t>
            </a:r>
            <a:endParaRPr lang="ru-RU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79512" y="908720"/>
            <a:ext cx="8856984" cy="5760640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uk-UA" dirty="0">
                <a:solidFill>
                  <a:schemeClr val="tx1"/>
                </a:solidFill>
              </a:rPr>
              <a:t>У результаті виконання курсового </a:t>
            </a:r>
            <a:r>
              <a:rPr lang="uk-UA" dirty="0" err="1">
                <a:solidFill>
                  <a:schemeClr val="tx1"/>
                </a:solidFill>
              </a:rPr>
              <a:t>проєкту</a:t>
            </a:r>
            <a:r>
              <a:rPr lang="uk-UA" dirty="0">
                <a:solidFill>
                  <a:schemeClr val="tx1"/>
                </a:solidFill>
              </a:rPr>
              <a:t> розроблена система управління базою автомобілів для комп’ютерів, які працюють під керуванням ОС </a:t>
            </a:r>
            <a:r>
              <a:rPr lang="en-US" dirty="0">
                <a:solidFill>
                  <a:schemeClr val="tx1"/>
                </a:solidFill>
              </a:rPr>
              <a:t>Windows.</a:t>
            </a:r>
          </a:p>
          <a:p>
            <a:pPr algn="l"/>
            <a:r>
              <a:rPr lang="uk-UA" dirty="0">
                <a:solidFill>
                  <a:schemeClr val="tx1"/>
                </a:solidFill>
              </a:rPr>
              <a:t>У розробленому програмному забезпечені передбачено: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uk-UA" dirty="0">
                <a:solidFill>
                  <a:schemeClr val="tx1"/>
                </a:solidFill>
              </a:rPr>
              <a:t>Подання даних користувачем у консолі.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uk-UA" dirty="0">
                <a:solidFill>
                  <a:schemeClr val="tx1"/>
                </a:solidFill>
              </a:rPr>
              <a:t>Перевірку коректності введення даних та обробку виключень.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uk-UA" dirty="0">
                <a:solidFill>
                  <a:schemeClr val="tx1"/>
                </a:solidFill>
              </a:rPr>
              <a:t>Збереження даних у файл.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uk-UA" dirty="0">
                <a:solidFill>
                  <a:schemeClr val="tx1"/>
                </a:solidFill>
              </a:rPr>
              <a:t>Зчитування даних з файлу.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uk-UA" dirty="0">
                <a:solidFill>
                  <a:schemeClr val="tx1"/>
                </a:solidFill>
              </a:rPr>
              <a:t>Перегляд доданих об’єктів.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uk-UA" dirty="0">
                <a:solidFill>
                  <a:schemeClr val="tx1"/>
                </a:solidFill>
              </a:rPr>
              <a:t>Редагування доданих об’єктів.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uk-UA" dirty="0">
                <a:solidFill>
                  <a:schemeClr val="tx1"/>
                </a:solidFill>
              </a:rPr>
              <a:t>Видалення об’єктів.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uk-UA" dirty="0">
                <a:solidFill>
                  <a:schemeClr val="tx1"/>
                </a:solidFill>
              </a:rPr>
              <a:t>Сортування об’єктів по самостійно вибраному ключу.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uk-UA" dirty="0">
                <a:solidFill>
                  <a:schemeClr val="tx1"/>
                </a:solidFill>
              </a:rPr>
              <a:t>Фільтрацію об’єктів по самостійно вибраному ключу.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uk-UA" dirty="0">
                <a:solidFill>
                  <a:schemeClr val="tx1"/>
                </a:solidFill>
              </a:rPr>
              <a:t>Пошук об’єктів по самостійно обраному ключу.</a:t>
            </a:r>
          </a:p>
          <a:p>
            <a:pPr algn="l"/>
            <a:r>
              <a:rPr lang="uk-UA" dirty="0">
                <a:solidFill>
                  <a:schemeClr val="tx1"/>
                </a:solidFill>
              </a:rPr>
              <a:t>Дана розробка у майбутньому може бути розширена із додаванням нового функціоналу і видозміненою логікою обробки.</a:t>
            </a:r>
          </a:p>
        </p:txBody>
      </p:sp>
    </p:spTree>
    <p:extLst>
      <p:ext uri="{BB962C8B-B14F-4D97-AF65-F5344CB8AC3E}">
        <p14:creationId xmlns:p14="http://schemas.microsoft.com/office/powerpoint/2010/main" val="998300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667</Words>
  <Application>Microsoft Office PowerPoint</Application>
  <PresentationFormat>Екран (4:3)</PresentationFormat>
  <Paragraphs>75</Paragraphs>
  <Slides>15</Slides>
  <Notes>2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15</vt:i4>
      </vt:variant>
    </vt:vector>
  </HeadingPairs>
  <TitlesOfParts>
    <vt:vector size="18" baseType="lpstr">
      <vt:lpstr>Arial</vt:lpstr>
      <vt:lpstr>Calibri</vt:lpstr>
      <vt:lpstr>Тема Office</vt:lpstr>
      <vt:lpstr>КУРСОВИЙ ПРОЄКТ на тему: Система управління базою даних «Автомобіль» </vt:lpstr>
      <vt:lpstr>Мета роботи та постановка задачі</vt:lpstr>
      <vt:lpstr>Вихідні дані до проєкту  </vt:lpstr>
      <vt:lpstr>Модулі (класи) програми  </vt:lpstr>
      <vt:lpstr>Алгоритми роботи програми  </vt:lpstr>
      <vt:lpstr>.</vt:lpstr>
      <vt:lpstr>Вимоги до консольного інтерфейсу користувача</vt:lpstr>
      <vt:lpstr>Опис користувацького інтерфейсу  </vt:lpstr>
      <vt:lpstr>Опис користувацького інтерфейсу  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Висновок: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КУРСОВИЙ ПРОЄКТ на тему: Система управління базою замовлення страв в ресторані</dc:title>
  <dc:creator>Настя Яковенко</dc:creator>
  <cp:lastModifiedBy>Mykhailo Buhera</cp:lastModifiedBy>
  <cp:revision>12</cp:revision>
  <dcterms:created xsi:type="dcterms:W3CDTF">2024-10-28T20:35:15Z</dcterms:created>
  <dcterms:modified xsi:type="dcterms:W3CDTF">2025-11-20T19:21:39Z</dcterms:modified>
</cp:coreProperties>
</file>